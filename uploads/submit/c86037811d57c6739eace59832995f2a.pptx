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37"/>
  </p:handoutMasterIdLst>
  <p:sldIdLst>
    <p:sldId id="346" r:id="rId3"/>
    <p:sldId id="368" r:id="rId5"/>
    <p:sldId id="387" r:id="rId6"/>
    <p:sldId id="392" r:id="rId7"/>
    <p:sldId id="393" r:id="rId8"/>
    <p:sldId id="394" r:id="rId9"/>
    <p:sldId id="395" r:id="rId10"/>
    <p:sldId id="396" r:id="rId11"/>
    <p:sldId id="397" r:id="rId12"/>
    <p:sldId id="398" r:id="rId13"/>
    <p:sldId id="399" r:id="rId14"/>
    <p:sldId id="400" r:id="rId15"/>
    <p:sldId id="401" r:id="rId16"/>
    <p:sldId id="402" r:id="rId17"/>
    <p:sldId id="403" r:id="rId18"/>
    <p:sldId id="404" r:id="rId19"/>
    <p:sldId id="405" r:id="rId20"/>
    <p:sldId id="406" r:id="rId21"/>
    <p:sldId id="410" r:id="rId22"/>
    <p:sldId id="413" r:id="rId23"/>
    <p:sldId id="407" r:id="rId24"/>
    <p:sldId id="411" r:id="rId25"/>
    <p:sldId id="412" r:id="rId26"/>
    <p:sldId id="414" r:id="rId27"/>
    <p:sldId id="415" r:id="rId28"/>
    <p:sldId id="416" r:id="rId29"/>
    <p:sldId id="417" r:id="rId30"/>
    <p:sldId id="418" r:id="rId31"/>
    <p:sldId id="419" r:id="rId32"/>
    <p:sldId id="420" r:id="rId33"/>
    <p:sldId id="421" r:id="rId34"/>
    <p:sldId id="422" r:id="rId35"/>
    <p:sldId id="423" r:id="rId36"/>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40" userDrawn="1">
          <p15:clr>
            <a:srgbClr val="A4A3A4"/>
          </p15:clr>
        </p15:guide>
        <p15:guide id="2" pos="5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1704" y="108"/>
      </p:cViewPr>
      <p:guideLst>
        <p:guide orient="horz" pos="740"/>
        <p:guide pos="5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67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3458"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403459"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anose="020B0604020202020204" pitchFamily="34" charset="0"/>
                <a:ea typeface="+mn-ea"/>
                <a:cs typeface="+mn-cs"/>
              </a:defRPr>
            </a:lvl1pPr>
          </a:lstStyle>
          <a:p>
            <a:pPr>
              <a:defRPr/>
            </a:pPr>
            <a:endParaRPr lang="en-US"/>
          </a:p>
        </p:txBody>
      </p:sp>
      <p:sp>
        <p:nvSpPr>
          <p:cNvPr id="403460"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403461"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smtClean="0"/>
            </a:lvl1pPr>
          </a:lstStyle>
          <a:p>
            <a:pPr>
              <a:defRPr/>
            </a:pPr>
            <a:fld id="{119CE09D-DE5D-44E4-9C09-1DDE59E23189}"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ctr" anchorCtr="0" compatLnSpc="1"/>
          <a:lstStyle>
            <a:lvl1pPr defTabSz="930275">
              <a:defRPr sz="1300">
                <a:latin typeface="Times New Roman" panose="02020603050405020304" pitchFamily="18"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ctr" anchorCtr="0" compatLnSpc="1"/>
          <a:lstStyle>
            <a:lvl1pPr algn="r" defTabSz="930275">
              <a:defRPr sz="1300">
                <a:latin typeface="Times New Roman" panose="02020603050405020304" pitchFamily="18"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ctr" anchorCtr="0" compatLnSpc="1"/>
          <a:lstStyle/>
          <a:p>
            <a:pPr lvl="0"/>
            <a:r>
              <a:rPr lang="en-US" noProof="0"/>
              <a:t>Click to edit Master text styles</a:t>
            </a:r>
            <a:endParaRPr lang="en-US" noProof="0"/>
          </a:p>
          <a:p>
            <a:pPr lvl="0"/>
            <a:r>
              <a:rPr lang="en-US" noProof="0"/>
              <a:t>Second level</a:t>
            </a:r>
            <a:endParaRPr lang="en-US" noProof="0"/>
          </a:p>
          <a:p>
            <a:pPr lvl="0"/>
            <a:r>
              <a:rPr lang="en-US" noProof="0"/>
              <a:t>Third level</a:t>
            </a:r>
            <a:endParaRPr lang="en-US" noProof="0"/>
          </a:p>
          <a:p>
            <a:pPr lvl="0"/>
            <a:r>
              <a:rPr lang="en-US" noProof="0"/>
              <a:t>Fourth level</a:t>
            </a:r>
            <a:endParaRPr lang="en-US" noProof="0"/>
          </a:p>
          <a:p>
            <a:pPr lvl="0"/>
            <a:r>
              <a:rPr lang="en-US" noProof="0"/>
              <a:t>Fifth level</a:t>
            </a:r>
            <a:endParaRPr lang="en-US" noProof="0"/>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Times New Roman" panose="02020603050405020304" pitchFamily="18"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smtClean="0">
                <a:latin typeface="Times New Roman" panose="02020603050405020304" pitchFamily="18" charset="0"/>
              </a:defRPr>
            </a:lvl1pPr>
          </a:lstStyle>
          <a:p>
            <a:pPr>
              <a:defRPr/>
            </a:pPr>
            <a:fld id="{8234170D-4C15-4DC8-9E93-2CEDAB1F1330}"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742950" indent="-28575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2pPr>
    <a:lvl3pPr marL="11430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3pPr>
    <a:lvl4pPr marL="16002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4pPr>
    <a:lvl5pPr marL="20574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A3D47C1-E4FD-456D-8E85-26A0FB5C6A9E}" type="slidenum">
              <a:rPr lang="en-US" altLang="en-US" sz="1300"/>
            </a:fld>
            <a:endParaRPr lang="en-US" altLang="en-US" sz="1300"/>
          </a:p>
        </p:txBody>
      </p:sp>
      <p:sp>
        <p:nvSpPr>
          <p:cNvPr id="6147" name="Rectangle 2"/>
          <p:cNvSpPr>
            <a:spLocks noGrp="1" noRot="1" noChangeAspect="1" noChangeArrowheads="1" noTextEdit="1"/>
          </p:cNvSpPr>
          <p:nvPr>
            <p:ph type="sldImg"/>
          </p:nvPr>
        </p:nvSpPr>
        <p:spPr>
          <a:xfrm>
            <a:off x="1179513" y="696913"/>
            <a:ext cx="4641850" cy="3481387"/>
          </a:xfrm>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18BB0E7-2398-4769-8733-666D1E41A670}" type="slidenum">
              <a:rPr lang="en-US" altLang="en-US" sz="1300"/>
            </a:fld>
            <a:endParaRPr lang="en-US" altLang="en-US" sz="1300"/>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487426" name="Rectangle 2"/>
          <p:cNvSpPr>
            <a:spLocks noGrp="1" noChangeArrowheads="1"/>
          </p:cNvSpPr>
          <p:nvPr>
            <p:ph type="ctrTitle"/>
          </p:nvPr>
        </p:nvSpPr>
        <p:spPr>
          <a:xfrm>
            <a:off x="685800" y="2286000"/>
            <a:ext cx="7772400" cy="1143000"/>
          </a:xfrm>
        </p:spPr>
        <p:txBody>
          <a:bodyPr/>
          <a:lstStyle>
            <a:lvl1pPr>
              <a:defRPr sz="2800">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441F42D0-7627-45E8-BCAB-6293FCFFA666}" type="slidenum">
              <a:rPr lang="en-US" altLang="en-US" smtClean="0"/>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Cover-6Ed"/>
          <p:cNvPicPr>
            <a:picLocks noChangeAspect="1" noChangeArrowheads="1"/>
          </p:cNvPicPr>
          <p:nvPr userDrawn="1"/>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idx="1"/>
          </p:nvPr>
        </p:nvSpPr>
        <p:spPr>
          <a:xfrm>
            <a:off x="831272" y="1102497"/>
            <a:ext cx="8014277"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5CC1BFAE-C44B-49AE-8C45-A7AABAAB5FEE}" type="slidenum">
              <a:rPr lang="en-US" altLang="en-US" smtClean="0"/>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12BBE0E1-96FA-42C8-A339-7F81B98D396B}" type="slidenum">
              <a:rPr lang="en-US" altLang="en-US" smtClean="0"/>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5" name="Rectangle 3"/>
          <p:cNvSpPr>
            <a:spLocks noGrp="1" noChangeArrowheads="1"/>
          </p:cNvSpPr>
          <p:nvPr>
            <p:ph type="sldNum" sz="quarter" idx="10"/>
          </p:nvPr>
        </p:nvSpPr>
        <p:spPr/>
        <p:txBody>
          <a:bodyPr/>
          <a:lstStyle>
            <a:lvl1pPr>
              <a:defRPr/>
            </a:lvl1pPr>
          </a:lstStyle>
          <a:p>
            <a:pPr>
              <a:defRPr/>
            </a:pPr>
            <a:fld id="{D13E6E76-F12E-4D1B-9B56-009C721BF777}" type="slidenum">
              <a:rPr lang="en-US" altLang="en-US" smtClean="0"/>
            </a:fld>
            <a:endParaRPr lang="en-US" altLang="en-US"/>
          </a:p>
        </p:txBody>
      </p:sp>
      <p:sp>
        <p:nvSpPr>
          <p:cNvPr id="6" name="Content Placeholder 2"/>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sz="2800"/>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12023997-F532-4D5B-B2F3-9E05A41D497B}" type="slidenum">
              <a:rPr lang="en-US" altLang="en-US" smtClean="0"/>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Rectangle 3"/>
          <p:cNvSpPr>
            <a:spLocks noGrp="1" noChangeArrowheads="1"/>
          </p:cNvSpPr>
          <p:nvPr>
            <p:ph type="sldNum" sz="quarter" idx="10"/>
          </p:nvPr>
        </p:nvSpPr>
        <p:spPr/>
        <p:txBody>
          <a:bodyPr/>
          <a:lstStyle>
            <a:lvl1pPr>
              <a:defRPr/>
            </a:lvl1pPr>
          </a:lstStyle>
          <a:p>
            <a:pPr>
              <a:defRPr/>
            </a:pPr>
            <a:fld id="{96649892-EB20-4383-9D6A-6D1ED2147F7F}" type="slidenum">
              <a:rPr lang="en-US" altLang="en-US" smtClean="0"/>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3B271689-3C51-413B-9388-DDBA7E74E1E4}" type="slidenum">
              <a:rPr lang="en-US" altLang="en-US" smtClean="0"/>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E9CD7985-991B-46C7-A32A-6942E2DB1188}" type="slidenum">
              <a:rPr lang="en-US" altLang="en-US" smtClean="0"/>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779FD90-85FD-43B3-9F6B-6E3DF5251AE4}" type="slidenum">
              <a:rPr lang="en-US" altLang="en-US" smtClean="0"/>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sz="1700"/>
            </a:lvl1pPr>
            <a:lvl2pPr>
              <a:defRPr sz="1700"/>
            </a:lvl2pPr>
            <a:lvl3pPr>
              <a:defRPr sz="1700"/>
            </a:lvl3pPr>
            <a:lvl4pPr>
              <a:defRPr sz="1700"/>
            </a:lvl4pPr>
            <a:lvl5pP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17078238-A850-4F7F-9FB2-C7F3ED51152A}"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lvl1pPr>
              <a:defRPr sz="2800"/>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768350" y="117475"/>
            <a:ext cx="5905500" cy="5880100"/>
          </a:xfrm>
        </p:spPr>
        <p:txBody>
          <a:bodyPr vert="eaVert"/>
          <a:lstStyle>
            <a:lvl1pPr>
              <a:defRPr sz="1700"/>
            </a:lvl1pPr>
            <a:lvl2pPr>
              <a:defRPr sz="1700"/>
            </a:lvl2pPr>
            <a:lvl3pPr>
              <a:defRPr sz="1700"/>
            </a:lvl3pPr>
            <a:lvl4pPr>
              <a:defRPr sz="1700"/>
            </a:lvl4pPr>
            <a:lvl5pPr>
              <a:defRPr sz="1700"/>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3875237-B0F8-4D27-B8AA-EA0E8F7832E5}" type="slidenum">
              <a:rPr lang="en-US" altLang="en-US" smtClean="0"/>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lvl1pPr>
              <a:defRPr sz="2800"/>
            </a:lvl1pPr>
          </a:lstStyle>
          <a:p>
            <a:r>
              <a:rPr lang="en-US"/>
              <a:t>Click to edit Master title style</a:t>
            </a:r>
            <a:endParaRPr lang="en-US"/>
          </a:p>
        </p:txBody>
      </p:sp>
      <p:sp>
        <p:nvSpPr>
          <p:cNvPr id="3" name="Text Placeholder 2"/>
          <p:cNvSpPr>
            <a:spLocks noGrp="1"/>
          </p:cNvSpPr>
          <p:nvPr>
            <p:ph type="body"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D13E6E76-F12E-4D1B-9B56-009C721BF777}" type="slidenum">
              <a:rPr lang="en-US" altLang="en-US" smtClean="0"/>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1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603050405020304" pitchFamily="18" charset="0"/>
                <a:ea typeface="+mn-ea"/>
                <a:cs typeface="+mn-cs"/>
              </a:defRPr>
            </a:lvl1pPr>
          </a:lstStyle>
          <a:p>
            <a:pPr>
              <a:defRPr/>
            </a:pPr>
            <a:r>
              <a:rPr lang="en-US" dirty="0"/>
              <a:t>7</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D13E6E76-F12E-4D1B-9B56-009C721BF777}" type="slidenum">
              <a:rPr lang="en-US" altLang="en-US" smtClean="0"/>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2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7"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603050405020304" pitchFamily="18" charset="0"/>
                <a:ea typeface="+mn-ea"/>
                <a:cs typeface="+mn-cs"/>
              </a:defRPr>
            </a:lvl1pPr>
          </a:lstStyle>
          <a:p>
            <a:pPr>
              <a:defRPr/>
            </a:pP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441F42D0-7627-45E8-BCAB-6293FCFFA666}"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jpe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dirty="0"/>
          </a:p>
        </p:txBody>
      </p:sp>
      <p:sp>
        <p:nvSpPr>
          <p:cNvPr id="4864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smtClean="0">
                <a:solidFill>
                  <a:schemeClr val="bg2"/>
                </a:solidFill>
                <a:latin typeface="Times New Roman" panose="02020603050405020304" pitchFamily="18" charset="0"/>
              </a:defRPr>
            </a:lvl1pPr>
          </a:lstStyle>
          <a:p>
            <a:pPr>
              <a:defRPr/>
            </a:pPr>
            <a:fld id="{D13E6E76-F12E-4D1B-9B56-009C721BF777}" type="slidenum">
              <a:rPr lang="en-US" altLang="en-US" smtClean="0"/>
            </a:fld>
            <a:endParaRPr lang="en-US" altLang="en-US"/>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486405" name="Text Box 5"/>
          <p:cNvSpPr txBox="1">
            <a:spLocks noChangeArrowheads="1"/>
          </p:cNvSpPr>
          <p:nvPr/>
        </p:nvSpPr>
        <p:spPr bwMode="auto">
          <a:xfrm>
            <a:off x="4444717" y="6613525"/>
            <a:ext cx="518092"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15.</a:t>
            </a:r>
            <a:fld id="{370CC2A8-7410-4F9E-B2CB-FCF9B3031B7B}" type="slidenum">
              <a:rPr lang="en-US" altLang="en-US" sz="1000" b="1" smtClean="0">
                <a:solidFill>
                  <a:srgbClr val="002060"/>
                </a:solidFill>
              </a:rPr>
            </a:fld>
            <a:endParaRPr lang="en-US" altLang="en-US" sz="1000" b="1" dirty="0">
              <a:solidFill>
                <a:srgbClr val="002060"/>
              </a:solidFill>
            </a:endParaRPr>
          </a:p>
        </p:txBody>
      </p:sp>
      <p:sp>
        <p:nvSpPr>
          <p:cNvPr id="4864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1" name="Picture 10" descr="Cover-6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p:cNvPicPr>
            <a:picLocks noChangeAspect="1" noChangeArrowheads="1"/>
          </p:cNvPicPr>
          <p:nvPr userDrawn="1"/>
        </p:nvPicPr>
        <p:blipFill>
          <a:blip r:embed="rId16"/>
          <a:stretch>
            <a:fillRect/>
          </a:stretch>
        </p:blipFill>
        <p:spPr bwMode="auto">
          <a:xfrm>
            <a:off x="2304" y="0"/>
            <a:ext cx="812084" cy="103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Chapter 20: Database System Architectures </a:t>
            </a:r>
            <a:br>
              <a:rPr lang="en-US" altLang="en-US" dirty="0">
                <a:effectLst>
                  <a:outerShdw blurRad="38100" dist="38100" dir="2700000" algn="tl">
                    <a:srgbClr val="C0C0C0"/>
                  </a:outerShdw>
                </a:effectLst>
                <a:ea typeface="MS PGothic" panose="020B0600070205080204" pitchFamily="34" charset="-128"/>
              </a:rPr>
            </a:br>
            <a:r>
              <a:rPr lang="en-US" altLang="en-US" dirty="0">
                <a:effectLst>
                  <a:outerShdw blurRad="38100" dist="38100" dir="2700000" algn="tl">
                    <a:srgbClr val="C0C0C0"/>
                  </a:outerShdw>
                </a:effectLst>
                <a:ea typeface="MS PGothic" panose="020B0600070205080204" pitchFamily="34" charset="-128"/>
              </a:rPr>
              <a:t>Part-III</a:t>
            </a:r>
            <a:br>
              <a:rPr lang="en-US" altLang="en-US" dirty="0">
                <a:effectLst>
                  <a:outerShdw blurRad="38100" dist="38100" dir="2700000" algn="tl">
                    <a:srgbClr val="C0C0C0"/>
                  </a:outerShdw>
                </a:effectLst>
                <a:ea typeface="MS PGothic" panose="020B0600070205080204" pitchFamily="34" charset="-128"/>
              </a:rPr>
            </a:br>
            <a:r>
              <a:rPr lang="en-US" altLang="en-US" dirty="0">
                <a:effectLst>
                  <a:outerShdw blurRad="38100" dist="38100" dir="2700000" algn="tl">
                    <a:srgbClr val="C0C0C0"/>
                  </a:outerShdw>
                </a:effectLst>
                <a:ea typeface="MS PGothic" panose="020B0600070205080204" pitchFamily="34" charset="-128"/>
              </a:rPr>
              <a:t>18.8.26</a:t>
            </a:r>
            <a:br>
              <a:rPr lang="en-US" altLang="en-US" dirty="0">
                <a:effectLst>
                  <a:outerShdw blurRad="38100" dist="38100" dir="2700000" algn="tl">
                    <a:srgbClr val="C0C0C0"/>
                  </a:outerShdw>
                </a:effectLst>
                <a:ea typeface="MS PGothic" panose="020B0600070205080204" pitchFamily="34" charset="-128"/>
              </a:rPr>
            </a:br>
            <a:endParaRPr lang="en-US" altLang="en-US" dirty="0">
              <a:effectLst>
                <a:outerShdw blurRad="38100" dist="38100" dir="2700000" algn="tl">
                  <a:srgbClr val="C0C0C0"/>
                </a:outerShdw>
              </a:effectLst>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Server System Architecture</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r>
              <a:rPr lang="en-US" altLang="en-US" dirty="0">
                <a:ea typeface="MS PGothic" panose="020B0600070205080204" pitchFamily="34" charset="-128"/>
              </a:rPr>
              <a:t>A database system often follows a client–server model</a:t>
            </a:r>
            <a:endParaRPr lang="en-US" altLang="en-US" dirty="0">
              <a:ea typeface="MS PGothic" panose="020B0600070205080204" pitchFamily="34" charset="-128"/>
            </a:endParaRPr>
          </a:p>
          <a:p>
            <a:pPr algn="just"/>
            <a:r>
              <a:rPr lang="en-US" altLang="en-US" dirty="0">
                <a:ea typeface="MS PGothic" panose="020B0600070205080204" pitchFamily="34" charset="-128"/>
              </a:rPr>
              <a:t>Client → sends requests</a:t>
            </a:r>
            <a:endParaRPr lang="en-US" altLang="en-US" dirty="0">
              <a:ea typeface="MS PGothic" panose="020B0600070205080204" pitchFamily="34" charset="-128"/>
            </a:endParaRPr>
          </a:p>
          <a:p>
            <a:pPr algn="just"/>
            <a:r>
              <a:rPr lang="en-US" altLang="en-US" dirty="0">
                <a:ea typeface="MS PGothic" panose="020B0600070205080204" pitchFamily="34" charset="-128"/>
              </a:rPr>
              <a:t>Server → processes the requests and provides results/data</a:t>
            </a:r>
            <a:endParaRPr lang="en-US" altLang="en-US" dirty="0">
              <a:ea typeface="MS PGothic" panose="020B0600070205080204" pitchFamily="34" charset="-128"/>
            </a:endParaRPr>
          </a:p>
          <a:p>
            <a:pPr algn="just"/>
            <a:r>
              <a:rPr lang="en-US" altLang="en-US" dirty="0">
                <a:ea typeface="MS PGothic" panose="020B0600070205080204" pitchFamily="34" charset="-128"/>
              </a:rPr>
              <a:t>Database → stores the data</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Therefore, server system architecture explains how clients interact with a database server</a:t>
            </a:r>
            <a:endParaRPr lang="en-US" altLang="en-US" dirty="0">
              <a:ea typeface="MS PGothic" panose="020B0600070205080204" pitchFamily="34" charset="-128"/>
            </a:endParaRPr>
          </a:p>
        </p:txBody>
      </p:sp>
      <p:pic>
        <p:nvPicPr>
          <p:cNvPr id="3" name="Picture 2"/>
          <p:cNvPicPr>
            <a:picLocks noChangeAspect="1"/>
          </p:cNvPicPr>
          <p:nvPr/>
        </p:nvPicPr>
        <p:blipFill>
          <a:blip r:embed="rId1"/>
          <a:stretch>
            <a:fillRect/>
          </a:stretch>
        </p:blipFill>
        <p:spPr>
          <a:xfrm>
            <a:off x="1797050" y="2760345"/>
            <a:ext cx="4457700" cy="2495550"/>
          </a:xfrm>
          <a:prstGeom prst="rect">
            <a:avLst/>
          </a:prstGeom>
        </p:spPr>
      </p:pic>
    </p:spTree>
  </p:cSld>
  <p:clrMapOvr>
    <a:masterClrMapping/>
  </p:clrMapOvr>
  <p:transition advTm="5014"/>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Two Types of Server Systems</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Transaction-server systems</a:t>
            </a:r>
            <a:endParaRPr lang="en-US" altLang="en-US" dirty="0">
              <a:ea typeface="MS PGothic" panose="020B0600070205080204" pitchFamily="34" charset="-128"/>
            </a:endParaRPr>
          </a:p>
          <a:p>
            <a:pPr algn="just"/>
            <a:r>
              <a:rPr lang="en-US" altLang="en-US" dirty="0">
                <a:ea typeface="MS PGothic" panose="020B0600070205080204" pitchFamily="34" charset="-128"/>
              </a:rPr>
              <a:t>Data-server systems</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Transaction-Server System:</a:t>
            </a:r>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A transaction server, also called a query server, receives requests from clients, executes the requested operations, and sends the results back</a:t>
            </a:r>
            <a:endParaRPr lang="en-US" altLang="en-US" dirty="0">
              <a:ea typeface="MS PGothic" panose="020B0600070205080204" pitchFamily="34" charset="-128"/>
            </a:endParaRPr>
          </a:p>
        </p:txBody>
      </p:sp>
      <p:pic>
        <p:nvPicPr>
          <p:cNvPr id="4" name="Picture 3"/>
          <p:cNvPicPr>
            <a:picLocks noChangeAspect="1"/>
          </p:cNvPicPr>
          <p:nvPr/>
        </p:nvPicPr>
        <p:blipFill>
          <a:blip r:embed="rId1"/>
          <a:stretch>
            <a:fillRect/>
          </a:stretch>
        </p:blipFill>
        <p:spPr>
          <a:xfrm>
            <a:off x="3181985" y="3809365"/>
            <a:ext cx="3250565" cy="2613660"/>
          </a:xfrm>
          <a:prstGeom prst="rect">
            <a:avLst/>
          </a:prstGeom>
        </p:spPr>
      </p:pic>
    </p:spTree>
  </p:cSld>
  <p:clrMapOvr>
    <a:masterClrMapping/>
  </p:clrMapOvr>
  <p:transition advTm="5014"/>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Two Types of Server Systems(Cont’d)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Data-server systems:</a:t>
            </a:r>
            <a:endParaRPr lang="en-US" altLang="en-US" dirty="0">
              <a:ea typeface="MS PGothic" panose="020B0600070205080204" pitchFamily="34" charset="-128"/>
            </a:endParaRPr>
          </a:p>
          <a:p>
            <a:pPr algn="just"/>
            <a:r>
              <a:rPr lang="en-US" altLang="en-US" dirty="0">
                <a:ea typeface="MS PGothic" panose="020B0600070205080204" pitchFamily="34" charset="-128"/>
              </a:rPr>
              <a:t>A data server allows clients to directly request operations on data</a:t>
            </a:r>
            <a:endParaRPr lang="en-US" altLang="en-US" dirty="0">
              <a:ea typeface="MS PGothic" panose="020B0600070205080204" pitchFamily="34" charset="-128"/>
            </a:endParaRPr>
          </a:p>
          <a:p>
            <a:pPr algn="just"/>
            <a:r>
              <a:rPr lang="en-US" altLang="en-US" dirty="0">
                <a:ea typeface="MS PGothic" panose="020B0600070205080204" pitchFamily="34" charset="-128"/>
              </a:rPr>
              <a:t>The client may request to:</a:t>
            </a:r>
            <a:endParaRPr lang="en-US" altLang="en-US" dirty="0">
              <a:ea typeface="MS PGothic" panose="020B0600070205080204" pitchFamily="34" charset="-128"/>
            </a:endParaRPr>
          </a:p>
          <a:p>
            <a:pPr algn="just"/>
            <a:r>
              <a:rPr lang="en-US" altLang="en-US" dirty="0">
                <a:ea typeface="MS PGothic" panose="020B0600070205080204" pitchFamily="34" charset="-128"/>
              </a:rPr>
              <a:t>read data</a:t>
            </a:r>
            <a:endParaRPr lang="en-US" altLang="en-US" dirty="0">
              <a:ea typeface="MS PGothic" panose="020B0600070205080204" pitchFamily="34" charset="-128"/>
            </a:endParaRPr>
          </a:p>
          <a:p>
            <a:pPr algn="just"/>
            <a:r>
              <a:rPr lang="en-US" altLang="en-US" dirty="0">
                <a:ea typeface="MS PGothic" panose="020B0600070205080204" pitchFamily="34" charset="-128"/>
              </a:rPr>
              <a:t>update data</a:t>
            </a:r>
            <a:endParaRPr lang="en-US" altLang="en-US" dirty="0">
              <a:ea typeface="MS PGothic" panose="020B0600070205080204" pitchFamily="34" charset="-128"/>
            </a:endParaRPr>
          </a:p>
          <a:p>
            <a:pPr algn="just"/>
            <a:r>
              <a:rPr lang="en-US" altLang="en-US" dirty="0">
                <a:ea typeface="MS PGothic" panose="020B0600070205080204" pitchFamily="34" charset="-128"/>
              </a:rPr>
              <a:t>create data</a:t>
            </a:r>
            <a:endParaRPr lang="en-US" altLang="en-US" dirty="0">
              <a:ea typeface="MS PGothic" panose="020B0600070205080204" pitchFamily="34" charset="-128"/>
            </a:endParaRPr>
          </a:p>
          <a:p>
            <a:pPr algn="just"/>
            <a:r>
              <a:rPr lang="en-US" altLang="en-US" dirty="0">
                <a:ea typeface="MS PGothic" panose="020B0600070205080204" pitchFamily="34" charset="-128"/>
              </a:rPr>
              <a:t>delete data</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pic>
        <p:nvPicPr>
          <p:cNvPr id="2" name="Picture 1"/>
          <p:cNvPicPr>
            <a:picLocks noChangeAspect="1"/>
          </p:cNvPicPr>
          <p:nvPr/>
        </p:nvPicPr>
        <p:blipFill>
          <a:blip r:embed="rId1"/>
          <a:stretch>
            <a:fillRect/>
          </a:stretch>
        </p:blipFill>
        <p:spPr>
          <a:xfrm>
            <a:off x="2796540" y="3619500"/>
            <a:ext cx="2152650" cy="1933575"/>
          </a:xfrm>
          <a:prstGeom prst="rect">
            <a:avLst/>
          </a:prstGeom>
        </p:spPr>
      </p:pic>
    </p:spTree>
  </p:cSld>
  <p:clrMapOvr>
    <a:masterClrMapping/>
  </p:clrMapOvr>
  <p:transition advTm="5014"/>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Two Types of Server Systems(Cont’d)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Data-server systems(Cont’d):</a:t>
            </a:r>
            <a:endParaRPr lang="en-US" altLang="en-US" dirty="0">
              <a:ea typeface="MS PGothic" panose="020B0600070205080204" pitchFamily="34" charset="-128"/>
            </a:endParaRPr>
          </a:p>
          <a:p>
            <a:pPr algn="just"/>
            <a:r>
              <a:rPr lang="en-US" altLang="en-US" dirty="0">
                <a:ea typeface="MS PGothic" panose="020B0600070205080204" pitchFamily="34" charset="-128"/>
              </a:rPr>
              <a:t>Example: File Server, </a:t>
            </a:r>
            <a:endParaRPr lang="en-US" altLang="en-US" dirty="0">
              <a:ea typeface="MS PGothic" panose="020B0600070205080204" pitchFamily="34" charset="-128"/>
            </a:endParaRPr>
          </a:p>
          <a:p>
            <a:pPr algn="just"/>
            <a:r>
              <a:rPr lang="en-US" altLang="en-US" dirty="0">
                <a:ea typeface="MS PGothic" panose="020B0600070205080204" pitchFamily="34" charset="-128"/>
              </a:rPr>
              <a:t>A client requests: “Give me this file.” The server provides the file</a:t>
            </a:r>
            <a:endParaRPr lang="en-US" altLang="en-US" dirty="0">
              <a:ea typeface="MS PGothic" panose="020B0600070205080204" pitchFamily="34" charset="-128"/>
            </a:endParaRPr>
          </a:p>
          <a:p>
            <a:pPr algn="just"/>
            <a:r>
              <a:rPr lang="en-US" altLang="en-US" dirty="0">
                <a:ea typeface="MS PGothic" panose="020B0600070205080204" pitchFamily="34" charset="-128"/>
              </a:rPr>
              <a:t> A client may also request: “Update this file.” The server updates the data</a:t>
            </a:r>
            <a:endParaRPr lang="en-US" altLang="en-US" dirty="0">
              <a:ea typeface="MS PGothic" panose="020B0600070205080204" pitchFamily="34" charset="-128"/>
            </a:endParaRPr>
          </a:p>
          <a:p>
            <a:pPr algn="just"/>
            <a:r>
              <a:rPr lang="en-US" altLang="en-US" dirty="0">
                <a:ea typeface="MS PGothic" panose="020B0600070205080204" pitchFamily="34" charset="-128"/>
              </a:rPr>
              <a:t>Database data servers can work with smaller units of data, such as: pages, tuples, objects </a:t>
            </a:r>
            <a:endParaRPr lang="en-US" altLang="en-US" dirty="0">
              <a:ea typeface="MS PGothic" panose="020B0600070205080204" pitchFamily="34" charset="-128"/>
            </a:endParaRPr>
          </a:p>
          <a:p>
            <a:pPr algn="just"/>
            <a:r>
              <a:rPr lang="en-US" altLang="en-US" dirty="0">
                <a:ea typeface="MS PGothic" panose="020B0600070205080204" pitchFamily="34" charset="-128"/>
              </a:rPr>
              <a:t>They can also provide: indexing, transaction management, consistency</a:t>
            </a:r>
            <a:endParaRPr lang="en-US" altLang="en-US" dirty="0">
              <a:ea typeface="MS PGothic" panose="020B0600070205080204" pitchFamily="34" charset="-128"/>
            </a:endParaRPr>
          </a:p>
        </p:txBody>
      </p:sp>
    </p:spTree>
  </p:cSld>
  <p:clrMapOvr>
    <a:masterClrMapping/>
  </p:clrMapOvr>
  <p:transition advTm="5014"/>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A transaction-server architecture is a database system in which multiple processes work together to receive, execute, and manage transactions</a:t>
            </a:r>
            <a:endParaRPr lang="en-US" altLang="en-US" dirty="0">
              <a:ea typeface="MS PGothic" panose="020B0600070205080204" pitchFamily="34" charset="-128"/>
            </a:endParaRPr>
          </a:p>
          <a:p>
            <a:pPr algn="just"/>
            <a:r>
              <a:rPr lang="en-US" altLang="en-US" dirty="0">
                <a:ea typeface="MS PGothic" panose="020B0600070205080204" pitchFamily="34" charset="-128"/>
              </a:rPr>
              <a:t>Example, </a:t>
            </a:r>
            <a:endParaRPr lang="en-US" altLang="en-US" dirty="0">
              <a:ea typeface="MS PGothic" panose="020B0600070205080204" pitchFamily="34" charset="-128"/>
            </a:endParaRPr>
          </a:p>
          <a:p>
            <a:pPr algn="just"/>
            <a:r>
              <a:rPr lang="en-US" altLang="en-US" dirty="0">
                <a:ea typeface="MS PGothic" panose="020B0600070205080204" pitchFamily="34" charset="-128"/>
              </a:rPr>
              <a:t>Student → Login → Transaction Server </a:t>
            </a:r>
            <a:r>
              <a:rPr lang="en-US" altLang="en-US" dirty="0">
                <a:sym typeface="+mn-ea"/>
              </a:rPr>
              <a:t>→</a:t>
            </a:r>
            <a:r>
              <a:rPr lang="en-US" altLang="en-US" dirty="0">
                <a:ea typeface="MS PGothic" panose="020B0600070205080204" pitchFamily="34" charset="-128"/>
              </a:rPr>
              <a:t> Database </a:t>
            </a:r>
            <a:endParaRPr lang="en-US" altLang="en-US" dirty="0">
              <a:ea typeface="MS PGothic" panose="020B0600070205080204" pitchFamily="34" charset="-128"/>
            </a:endParaRPr>
          </a:p>
        </p:txBody>
      </p:sp>
      <p:pic>
        <p:nvPicPr>
          <p:cNvPr id="2" name="Picture 1"/>
          <p:cNvPicPr>
            <a:picLocks noChangeAspect="1"/>
          </p:cNvPicPr>
          <p:nvPr/>
        </p:nvPicPr>
        <p:blipFill>
          <a:blip r:embed="rId1"/>
          <a:stretch>
            <a:fillRect/>
          </a:stretch>
        </p:blipFill>
        <p:spPr>
          <a:xfrm>
            <a:off x="3406140" y="2891155"/>
            <a:ext cx="3307080" cy="4099560"/>
          </a:xfrm>
          <a:prstGeom prst="rect">
            <a:avLst/>
          </a:prstGeom>
        </p:spPr>
      </p:pic>
      <p:cxnSp>
        <p:nvCxnSpPr>
          <p:cNvPr id="4" name="Straight Arrow Connector 3"/>
          <p:cNvCxnSpPr/>
          <p:nvPr/>
        </p:nvCxnSpPr>
        <p:spPr>
          <a:xfrm flipH="1" flipV="1">
            <a:off x="5179695" y="2696845"/>
            <a:ext cx="244475" cy="1079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5" name="Text Box 4"/>
          <p:cNvSpPr txBox="1"/>
          <p:nvPr/>
        </p:nvSpPr>
        <p:spPr>
          <a:xfrm>
            <a:off x="4027170" y="2553970"/>
            <a:ext cx="808355" cy="337185"/>
          </a:xfrm>
          <a:prstGeom prst="rect">
            <a:avLst/>
          </a:prstGeom>
          <a:noFill/>
        </p:spPr>
        <p:txBody>
          <a:bodyPr wrap="square" rtlCol="0">
            <a:spAutoFit/>
          </a:bodyPr>
          <a:p>
            <a:r>
              <a:rPr lang="en-US"/>
              <a:t>Result</a:t>
            </a:r>
            <a:endParaRPr lang="en-US"/>
          </a:p>
        </p:txBody>
      </p:sp>
      <p:cxnSp>
        <p:nvCxnSpPr>
          <p:cNvPr id="6" name="Straight Arrow Connector 5"/>
          <p:cNvCxnSpPr/>
          <p:nvPr/>
        </p:nvCxnSpPr>
        <p:spPr>
          <a:xfrm flipH="1" flipV="1">
            <a:off x="2793365" y="2707640"/>
            <a:ext cx="244475" cy="1079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Tree>
  </p:cSld>
  <p:clrMapOvr>
    <a:masterClrMapping/>
  </p:clrMapOvr>
  <p:transition advTm="5014"/>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a:t>
            </a:r>
            <a:endParaRPr lang="en-US" altLang="en-US" dirty="0">
              <a:ea typeface="MS PGothic" panose="020B0600070205080204" pitchFamily="34" charset="-128"/>
            </a:endParaRPr>
          </a:p>
        </p:txBody>
      </p:sp>
      <p:pic>
        <p:nvPicPr>
          <p:cNvPr id="7" name="Picture 6"/>
          <p:cNvPicPr>
            <a:picLocks noChangeAspect="1"/>
          </p:cNvPicPr>
          <p:nvPr/>
        </p:nvPicPr>
        <p:blipFill>
          <a:blip r:embed="rId1"/>
          <a:stretch>
            <a:fillRect/>
          </a:stretch>
        </p:blipFill>
        <p:spPr>
          <a:xfrm>
            <a:off x="1760220" y="1673225"/>
            <a:ext cx="2390775" cy="3838575"/>
          </a:xfrm>
          <a:prstGeom prst="rect">
            <a:avLst/>
          </a:prstGeom>
        </p:spPr>
      </p:pic>
      <p:sp>
        <p:nvSpPr>
          <p:cNvPr id="8" name="Text Box 7"/>
          <p:cNvSpPr txBox="1"/>
          <p:nvPr/>
        </p:nvSpPr>
        <p:spPr>
          <a:xfrm>
            <a:off x="4339590" y="1865947"/>
            <a:ext cx="5080000" cy="875665"/>
          </a:xfrm>
          <a:prstGeom prst="rect">
            <a:avLst/>
          </a:prstGeom>
        </p:spPr>
        <p:txBody>
          <a:bodyPr>
            <a:spAutoFit/>
          </a:bodyPr>
          <a:p>
            <a:pPr marL="285750" indent="-285750" algn="just">
              <a:buFont typeface="Wingdings" panose="05000000000000000000" charset="0"/>
              <a:buChar char="§"/>
            </a:pPr>
            <a:r>
              <a:rPr sz="1700">
                <a:solidFill>
                  <a:srgbClr val="231F20"/>
                </a:solidFill>
                <a:latin typeface="+mn-lt"/>
                <a:ea typeface="NimbusRomDOT"/>
                <a:cs typeface="+mn-lt"/>
              </a:rPr>
              <a:t>These are processes that receive user queries (transactions), execute them, and send the results back</a:t>
            </a:r>
            <a:endParaRPr sz="1700">
              <a:solidFill>
                <a:srgbClr val="231F20"/>
              </a:solidFill>
              <a:latin typeface="+mn-lt"/>
              <a:ea typeface="NimbusRomDOT"/>
              <a:cs typeface="+mn-lt"/>
            </a:endParaRPr>
          </a:p>
        </p:txBody>
      </p:sp>
    </p:spTree>
  </p:cSld>
  <p:clrMapOvr>
    <a:masterClrMapping/>
  </p:clrMapOvr>
  <p:transition advTm="5014"/>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Process(Cont’d)</a:t>
            </a:r>
            <a:endParaRPr lang="en-US" altLang="en-US" dirty="0">
              <a:ea typeface="MS PGothic" panose="020B0600070205080204" pitchFamily="34" charset="-128"/>
            </a:endParaRPr>
          </a:p>
          <a:p>
            <a:pPr algn="just"/>
            <a:r>
              <a:rPr lang="en-US" altLang="en-US" dirty="0">
                <a:ea typeface="MS PGothic" panose="020B0600070205080204" pitchFamily="34" charset="-128"/>
              </a:rPr>
              <a:t>How is the query sent to the server process?</a:t>
            </a:r>
            <a:endParaRPr lang="en-US" altLang="en-US" dirty="0">
              <a:ea typeface="MS PGothic" panose="020B0600070205080204" pitchFamily="34" charset="-128"/>
            </a:endParaRPr>
          </a:p>
        </p:txBody>
      </p:sp>
      <p:pic>
        <p:nvPicPr>
          <p:cNvPr id="2" name="Picture 1"/>
          <p:cNvPicPr>
            <a:picLocks noChangeAspect="1"/>
          </p:cNvPicPr>
          <p:nvPr/>
        </p:nvPicPr>
        <p:blipFill>
          <a:blip r:embed="rId1"/>
          <a:stretch>
            <a:fillRect/>
          </a:stretch>
        </p:blipFill>
        <p:spPr>
          <a:xfrm>
            <a:off x="1141095" y="2348865"/>
            <a:ext cx="3810000" cy="2333625"/>
          </a:xfrm>
          <a:prstGeom prst="rect">
            <a:avLst/>
          </a:prstGeom>
        </p:spPr>
      </p:pic>
    </p:spTree>
  </p:cSld>
  <p:clrMapOvr>
    <a:masterClrMapping/>
  </p:clrMapOvr>
  <p:transition advTm="5014"/>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Process(Cont’d)</a:t>
            </a:r>
            <a:endParaRPr lang="en-US" altLang="en-US" dirty="0">
              <a:ea typeface="MS PGothic" panose="020B0600070205080204" pitchFamily="34" charset="-128"/>
            </a:endParaRPr>
          </a:p>
          <a:p>
            <a:pPr algn="just"/>
            <a:r>
              <a:rPr lang="en-US" altLang="en-US" dirty="0">
                <a:ea typeface="MS PGothic" panose="020B0600070205080204" pitchFamily="34" charset="-128"/>
              </a:rPr>
              <a:t>How does a DBMS process user queries?</a:t>
            </a:r>
            <a:endParaRPr lang="en-US" altLang="en-US" dirty="0">
              <a:ea typeface="MS PGothic" panose="020B0600070205080204" pitchFamily="34" charset="-128"/>
            </a:endParaRPr>
          </a:p>
          <a:p>
            <a:pPr algn="just"/>
            <a:r>
              <a:rPr lang="en-US" altLang="en-US" dirty="0">
                <a:ea typeface="MS PGothic" panose="020B0600070205080204" pitchFamily="34" charset="-128"/>
              </a:rPr>
              <a:t>Suppose there are three users. A DBMS uses three processes.</a:t>
            </a:r>
            <a:endParaRPr lang="en-US" altLang="en-US" dirty="0">
              <a:ea typeface="MS PGothic" panose="020B0600070205080204" pitchFamily="34" charset="-128"/>
            </a:endParaRPr>
          </a:p>
        </p:txBody>
      </p:sp>
      <p:pic>
        <p:nvPicPr>
          <p:cNvPr id="4" name="Picture 3"/>
          <p:cNvPicPr>
            <a:picLocks noChangeAspect="1"/>
          </p:cNvPicPr>
          <p:nvPr/>
        </p:nvPicPr>
        <p:blipFill>
          <a:blip r:embed="rId1"/>
          <a:stretch>
            <a:fillRect/>
          </a:stretch>
        </p:blipFill>
        <p:spPr>
          <a:xfrm>
            <a:off x="1710690" y="2628900"/>
            <a:ext cx="2466975" cy="800100"/>
          </a:xfrm>
          <a:prstGeom prst="rect">
            <a:avLst/>
          </a:prstGeom>
        </p:spPr>
      </p:pic>
      <p:sp>
        <p:nvSpPr>
          <p:cNvPr id="5" name="Text Box 4"/>
          <p:cNvSpPr txBox="1"/>
          <p:nvPr/>
        </p:nvSpPr>
        <p:spPr>
          <a:xfrm>
            <a:off x="4638675" y="2860040"/>
            <a:ext cx="4378325" cy="337185"/>
          </a:xfrm>
          <a:prstGeom prst="rect">
            <a:avLst/>
          </a:prstGeom>
          <a:noFill/>
        </p:spPr>
        <p:txBody>
          <a:bodyPr wrap="square" rtlCol="0">
            <a:spAutoFit/>
          </a:bodyPr>
          <a:p>
            <a:r>
              <a:rPr lang="en-US" altLang="en-US">
                <a:highlight>
                  <a:srgbClr val="FFFF00"/>
                </a:highlight>
              </a:rPr>
              <a:t>One user session → One server process</a:t>
            </a:r>
            <a:endParaRPr lang="en-US" altLang="en-US">
              <a:highlight>
                <a:srgbClr val="FFFF00"/>
              </a:highlight>
            </a:endParaRPr>
          </a:p>
        </p:txBody>
      </p:sp>
      <p:sp>
        <p:nvSpPr>
          <p:cNvPr id="6" name="Right Brace 5"/>
          <p:cNvSpPr/>
          <p:nvPr/>
        </p:nvSpPr>
        <p:spPr>
          <a:xfrm>
            <a:off x="4363720" y="2708910"/>
            <a:ext cx="120015" cy="671830"/>
          </a:xfrm>
          <a:prstGeom prst="rightBrac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Tree>
  </p:cSld>
  <p:clrMapOvr>
    <a:masterClrMapping/>
  </p:clrMapOvr>
  <p:transition advTm="5014"/>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Process(Cont’d)</a:t>
            </a:r>
            <a:endParaRPr lang="en-US" altLang="en-US" dirty="0">
              <a:ea typeface="MS PGothic" panose="020B0600070205080204" pitchFamily="34" charset="-128"/>
            </a:endParaRPr>
          </a:p>
          <a:p>
            <a:pPr algn="just"/>
            <a:r>
              <a:rPr lang="en-US" altLang="en-US" dirty="0">
                <a:ea typeface="MS PGothic" panose="020B0600070205080204" pitchFamily="34" charset="-128"/>
              </a:rPr>
              <a:t>How does a DBMS process user queries?</a:t>
            </a:r>
            <a:endParaRPr lang="en-US" altLang="en-US" dirty="0">
              <a:ea typeface="MS PGothic" panose="020B0600070205080204" pitchFamily="34" charset="-128"/>
            </a:endParaRPr>
          </a:p>
          <a:p>
            <a:pPr algn="just"/>
            <a:r>
              <a:rPr lang="en-US" altLang="en-US" dirty="0">
                <a:ea typeface="MS PGothic" panose="020B0600070205080204" pitchFamily="34" charset="-128"/>
              </a:rPr>
              <a:t>Suppose there are three users. A DBMS uses three processes</a:t>
            </a:r>
            <a:endParaRPr lang="en-US" altLang="en-US" dirty="0">
              <a:ea typeface="MS PGothic" panose="020B0600070205080204" pitchFamily="34" charset="-128"/>
            </a:endParaRPr>
          </a:p>
          <a:p>
            <a:pPr algn="just"/>
            <a:r>
              <a:rPr lang="en-US" altLang="en-US" dirty="0">
                <a:ea typeface="MS PGothic" panose="020B0600070205080204" pitchFamily="34" charset="-128"/>
              </a:rPr>
              <a:t>Some DBMS use</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A few DBMS use </a:t>
            </a:r>
            <a:endParaRPr lang="en-US" altLang="en-US" dirty="0">
              <a:ea typeface="MS PGothic" panose="020B0600070205080204" pitchFamily="34" charset="-128"/>
            </a:endParaRPr>
          </a:p>
        </p:txBody>
      </p:sp>
      <p:pic>
        <p:nvPicPr>
          <p:cNvPr id="4" name="Picture 3"/>
          <p:cNvPicPr>
            <a:picLocks noChangeAspect="1"/>
          </p:cNvPicPr>
          <p:nvPr/>
        </p:nvPicPr>
        <p:blipFill>
          <a:blip r:embed="rId1"/>
          <a:stretch>
            <a:fillRect/>
          </a:stretch>
        </p:blipFill>
        <p:spPr>
          <a:xfrm>
            <a:off x="1710690" y="2628900"/>
            <a:ext cx="2466975" cy="800100"/>
          </a:xfrm>
          <a:prstGeom prst="rect">
            <a:avLst/>
          </a:prstGeom>
        </p:spPr>
      </p:pic>
      <p:sp>
        <p:nvSpPr>
          <p:cNvPr id="5" name="Text Box 4"/>
          <p:cNvSpPr txBox="1"/>
          <p:nvPr/>
        </p:nvSpPr>
        <p:spPr>
          <a:xfrm>
            <a:off x="4638675" y="2860040"/>
            <a:ext cx="4378325" cy="583565"/>
          </a:xfrm>
          <a:prstGeom prst="rect">
            <a:avLst/>
          </a:prstGeom>
          <a:noFill/>
        </p:spPr>
        <p:txBody>
          <a:bodyPr wrap="square" rtlCol="0">
            <a:spAutoFit/>
          </a:bodyPr>
          <a:p>
            <a:r>
              <a:rPr lang="en-US" altLang="en-US">
                <a:highlight>
                  <a:srgbClr val="FFFF00"/>
                </a:highlight>
              </a:rPr>
              <a:t>One user session → One server process(separate processes)</a:t>
            </a:r>
            <a:endParaRPr lang="en-US" altLang="en-US">
              <a:highlight>
                <a:srgbClr val="FFFF00"/>
              </a:highlight>
            </a:endParaRPr>
          </a:p>
        </p:txBody>
      </p:sp>
      <p:sp>
        <p:nvSpPr>
          <p:cNvPr id="6" name="Right Brace 5"/>
          <p:cNvSpPr/>
          <p:nvPr/>
        </p:nvSpPr>
        <p:spPr>
          <a:xfrm>
            <a:off x="4363720" y="2708910"/>
            <a:ext cx="120015" cy="671830"/>
          </a:xfrm>
          <a:prstGeom prst="rightBrac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pic>
        <p:nvPicPr>
          <p:cNvPr id="2" name="Picture 1"/>
          <p:cNvPicPr>
            <a:picLocks noChangeAspect="1"/>
          </p:cNvPicPr>
          <p:nvPr/>
        </p:nvPicPr>
        <p:blipFill>
          <a:blip r:embed="rId2"/>
          <a:stretch>
            <a:fillRect/>
          </a:stretch>
        </p:blipFill>
        <p:spPr>
          <a:xfrm>
            <a:off x="1710690" y="4398010"/>
            <a:ext cx="3095625" cy="790575"/>
          </a:xfrm>
          <a:prstGeom prst="rect">
            <a:avLst/>
          </a:prstGeom>
        </p:spPr>
      </p:pic>
      <p:sp>
        <p:nvSpPr>
          <p:cNvPr id="7" name="Text Box 6"/>
          <p:cNvSpPr txBox="1"/>
          <p:nvPr/>
        </p:nvSpPr>
        <p:spPr>
          <a:xfrm>
            <a:off x="5069205" y="4532630"/>
            <a:ext cx="4378325" cy="583565"/>
          </a:xfrm>
          <a:prstGeom prst="rect">
            <a:avLst/>
          </a:prstGeom>
          <a:noFill/>
        </p:spPr>
        <p:txBody>
          <a:bodyPr wrap="square" rtlCol="0">
            <a:spAutoFit/>
          </a:bodyPr>
          <a:p>
            <a:r>
              <a:rPr lang="en-US" altLang="en-US">
                <a:highlight>
                  <a:srgbClr val="FFFF00"/>
                </a:highlight>
              </a:rPr>
              <a:t>Three users session → One server process(only one process)</a:t>
            </a:r>
            <a:endParaRPr lang="en-US" altLang="en-US">
              <a:highlight>
                <a:srgbClr val="FFFF00"/>
              </a:highlight>
            </a:endParaRPr>
          </a:p>
        </p:txBody>
      </p:sp>
      <p:sp>
        <p:nvSpPr>
          <p:cNvPr id="8" name="Right Brace 7"/>
          <p:cNvSpPr/>
          <p:nvPr/>
        </p:nvSpPr>
        <p:spPr>
          <a:xfrm>
            <a:off x="4857115" y="4532630"/>
            <a:ext cx="85090" cy="581660"/>
          </a:xfrm>
          <a:prstGeom prst="rightBrac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
        <p:nvSpPr>
          <p:cNvPr id="9" name="Text Box 8"/>
          <p:cNvSpPr txBox="1"/>
          <p:nvPr/>
        </p:nvSpPr>
        <p:spPr>
          <a:xfrm>
            <a:off x="1263015" y="5375910"/>
            <a:ext cx="6965315" cy="583565"/>
          </a:xfrm>
          <a:prstGeom prst="rect">
            <a:avLst/>
          </a:prstGeom>
        </p:spPr>
        <p:txBody>
          <a:bodyPr wrap="square">
            <a:spAutoFit/>
          </a:bodyPr>
          <a:p>
            <a:r>
              <a:t>How can a single process handle the queries from Users A, B, and C simultaneously?”</a:t>
            </a:r>
          </a:p>
        </p:txBody>
      </p:sp>
    </p:spTree>
  </p:cSld>
  <p:clrMapOvr>
    <a:masterClrMapping/>
  </p:clrMapOvr>
  <p:transition advTm="5014"/>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Process(Cont’d)</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Thread:</a:t>
            </a:r>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pic>
        <p:nvPicPr>
          <p:cNvPr id="10" name="Picture 9"/>
          <p:cNvPicPr>
            <a:picLocks noChangeAspect="1"/>
          </p:cNvPicPr>
          <p:nvPr/>
        </p:nvPicPr>
        <p:blipFill>
          <a:blip r:embed="rId1"/>
          <a:stretch>
            <a:fillRect/>
          </a:stretch>
        </p:blipFill>
        <p:spPr>
          <a:xfrm>
            <a:off x="1323975" y="2270760"/>
            <a:ext cx="2324100" cy="2000250"/>
          </a:xfrm>
          <a:prstGeom prst="rect">
            <a:avLst/>
          </a:prstGeom>
        </p:spPr>
      </p:pic>
      <p:pic>
        <p:nvPicPr>
          <p:cNvPr id="11" name="Picture 10"/>
          <p:cNvPicPr>
            <a:picLocks noChangeAspect="1"/>
          </p:cNvPicPr>
          <p:nvPr/>
        </p:nvPicPr>
        <p:blipFill>
          <a:blip r:embed="rId2"/>
          <a:stretch>
            <a:fillRect/>
          </a:stretch>
        </p:blipFill>
        <p:spPr>
          <a:xfrm>
            <a:off x="1323975" y="4544695"/>
            <a:ext cx="3714750" cy="1743075"/>
          </a:xfrm>
          <a:prstGeom prst="rect">
            <a:avLst/>
          </a:prstGeom>
        </p:spPr>
      </p:pic>
      <p:sp>
        <p:nvSpPr>
          <p:cNvPr id="12" name="Text Box 11"/>
          <p:cNvSpPr txBox="1"/>
          <p:nvPr/>
        </p:nvSpPr>
        <p:spPr>
          <a:xfrm>
            <a:off x="5271135" y="4972685"/>
            <a:ext cx="3646805" cy="583565"/>
          </a:xfrm>
          <a:prstGeom prst="rect">
            <a:avLst/>
          </a:prstGeom>
          <a:noFill/>
        </p:spPr>
        <p:txBody>
          <a:bodyPr wrap="square" rtlCol="0">
            <a:spAutoFit/>
          </a:bodyPr>
          <a:p>
            <a:pPr algn="just"/>
            <a:r>
              <a:rPr lang="en-US">
                <a:highlight>
                  <a:srgbClr val="FFFF00"/>
                </a:highlight>
              </a:rPr>
              <a:t>In one process, many threads can execute multiple queries concurrently</a:t>
            </a:r>
            <a:endParaRPr lang="en-US">
              <a:highlight>
                <a:srgbClr val="FFFF00"/>
              </a:highlight>
            </a:endParaRPr>
          </a:p>
        </p:txBody>
      </p:sp>
    </p:spTree>
  </p:cSld>
  <p:clrMapOvr>
    <a:masterClrMapping/>
  </p:clrMapOvr>
  <p:transition advTm="5014"/>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Process(Cont’d)</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Thread(Cont’d):</a:t>
            </a:r>
            <a:endParaRPr lang="en-US" altLang="en-US" dirty="0">
              <a:highlight>
                <a:srgbClr val="FFFF00"/>
              </a:highlight>
              <a:ea typeface="MS PGothic" panose="020B0600070205080204" pitchFamily="34" charset="-128"/>
            </a:endParaRPr>
          </a:p>
          <a:p>
            <a:pPr algn="just"/>
            <a:r>
              <a:rPr lang="en-US" altLang="en-US" dirty="0">
                <a:highlight>
                  <a:srgbClr val="FFFF00"/>
                </a:highlight>
                <a:ea typeface="MS PGothic" panose="020B0600070205080204" pitchFamily="34" charset="-128"/>
              </a:rPr>
              <a:t>Same virtual-memory space</a:t>
            </a:r>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pic>
        <p:nvPicPr>
          <p:cNvPr id="2" name="Picture 1"/>
          <p:cNvPicPr>
            <a:picLocks noChangeAspect="1"/>
          </p:cNvPicPr>
          <p:nvPr/>
        </p:nvPicPr>
        <p:blipFill>
          <a:blip r:embed="rId1"/>
          <a:stretch>
            <a:fillRect/>
          </a:stretch>
        </p:blipFill>
        <p:spPr>
          <a:xfrm>
            <a:off x="1577340" y="2476500"/>
            <a:ext cx="2581275" cy="1905000"/>
          </a:xfrm>
          <a:prstGeom prst="rect">
            <a:avLst/>
          </a:prstGeom>
        </p:spPr>
      </p:pic>
      <p:pic>
        <p:nvPicPr>
          <p:cNvPr id="5" name="Picture 4"/>
          <p:cNvPicPr>
            <a:picLocks noChangeAspect="1"/>
          </p:cNvPicPr>
          <p:nvPr/>
        </p:nvPicPr>
        <p:blipFill>
          <a:blip r:embed="rId2"/>
          <a:stretch>
            <a:fillRect/>
          </a:stretch>
        </p:blipFill>
        <p:spPr>
          <a:xfrm>
            <a:off x="4379595" y="3676650"/>
            <a:ext cx="2286000" cy="704850"/>
          </a:xfrm>
          <a:prstGeom prst="rect">
            <a:avLst/>
          </a:prstGeom>
        </p:spPr>
      </p:pic>
      <p:pic>
        <p:nvPicPr>
          <p:cNvPr id="6" name="Picture 5"/>
          <p:cNvPicPr>
            <a:picLocks noChangeAspect="1"/>
          </p:cNvPicPr>
          <p:nvPr/>
        </p:nvPicPr>
        <p:blipFill>
          <a:blip r:embed="rId3"/>
          <a:stretch>
            <a:fillRect/>
          </a:stretch>
        </p:blipFill>
        <p:spPr>
          <a:xfrm>
            <a:off x="7400925" y="3516630"/>
            <a:ext cx="1743075" cy="1333500"/>
          </a:xfrm>
          <a:prstGeom prst="rect">
            <a:avLst/>
          </a:prstGeom>
        </p:spPr>
      </p:pic>
      <p:sp>
        <p:nvSpPr>
          <p:cNvPr id="7" name="Right Arrow 6"/>
          <p:cNvSpPr/>
          <p:nvPr/>
        </p:nvSpPr>
        <p:spPr>
          <a:xfrm>
            <a:off x="6734175" y="3909060"/>
            <a:ext cx="753745" cy="24003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
        <p:nvSpPr>
          <p:cNvPr id="8" name="Text Box 7"/>
          <p:cNvSpPr txBox="1"/>
          <p:nvPr/>
        </p:nvSpPr>
        <p:spPr>
          <a:xfrm>
            <a:off x="7244715" y="3179445"/>
            <a:ext cx="2332355" cy="337185"/>
          </a:xfrm>
          <a:prstGeom prst="rect">
            <a:avLst/>
          </a:prstGeom>
          <a:noFill/>
        </p:spPr>
        <p:txBody>
          <a:bodyPr wrap="square" rtlCol="0">
            <a:spAutoFit/>
          </a:bodyPr>
          <a:p>
            <a:r>
              <a:rPr lang="en-US">
                <a:highlight>
                  <a:srgbClr val="FFFF00"/>
                </a:highlight>
              </a:rPr>
              <a:t>thread  is not used</a:t>
            </a:r>
            <a:endParaRPr lang="en-US">
              <a:highlight>
                <a:srgbClr val="FFFF00"/>
              </a:highlight>
            </a:endParaRPr>
          </a:p>
        </p:txBody>
      </p:sp>
      <p:sp>
        <p:nvSpPr>
          <p:cNvPr id="9" name="Text Box 8"/>
          <p:cNvSpPr txBox="1"/>
          <p:nvPr/>
        </p:nvSpPr>
        <p:spPr>
          <a:xfrm>
            <a:off x="4285615" y="2430780"/>
            <a:ext cx="6834505" cy="829945"/>
          </a:xfrm>
          <a:prstGeom prst="rect">
            <a:avLst/>
          </a:prstGeom>
        </p:spPr>
        <p:txBody>
          <a:bodyPr wrap="square">
            <a:spAutoFit/>
          </a:bodyPr>
          <a:p>
            <a:pPr marL="285750" indent="-285750">
              <a:buFont typeface="Wingdings" panose="05000000000000000000" charset="0"/>
              <a:buChar char="§"/>
            </a:pPr>
            <a:r>
              <a:rPr>
                <a:highlight>
                  <a:srgbClr val="FFFF00"/>
                </a:highlight>
              </a:rPr>
              <a:t>Multiple threads execute concurrently</a:t>
            </a:r>
            <a:endParaRPr>
              <a:highlight>
                <a:srgbClr val="FFFF00"/>
              </a:highlight>
            </a:endParaRPr>
          </a:p>
          <a:p>
            <a:pPr marL="285750" indent="-285750">
              <a:buFont typeface="Wingdings" panose="05000000000000000000" charset="0"/>
              <a:buChar char="§"/>
            </a:pPr>
            <a:r>
              <a:rPr lang="en-US"/>
              <a:t>Suppose multiple users send multiple </a:t>
            </a:r>
            <a:endParaRPr lang="en-US"/>
          </a:p>
          <a:p>
            <a:pPr marL="0" indent="0">
              <a:buFont typeface="Wingdings" panose="05000000000000000000" charset="0"/>
              <a:buNone/>
            </a:pPr>
            <a:r>
              <a:rPr lang="en-US"/>
              <a:t>     request concurrently</a:t>
            </a:r>
            <a:endParaRPr lang="en-US"/>
          </a:p>
        </p:txBody>
      </p:sp>
      <p:pic>
        <p:nvPicPr>
          <p:cNvPr id="13" name="Picture 12"/>
          <p:cNvPicPr>
            <a:picLocks noChangeAspect="1"/>
          </p:cNvPicPr>
          <p:nvPr/>
        </p:nvPicPr>
        <p:blipFill>
          <a:blip r:embed="rId4"/>
          <a:stretch>
            <a:fillRect/>
          </a:stretch>
        </p:blipFill>
        <p:spPr>
          <a:xfrm>
            <a:off x="6094730" y="5106035"/>
            <a:ext cx="2828925" cy="1247775"/>
          </a:xfrm>
          <a:prstGeom prst="rect">
            <a:avLst/>
          </a:prstGeom>
        </p:spPr>
      </p:pic>
      <p:sp>
        <p:nvSpPr>
          <p:cNvPr id="15" name="Down Arrow 14"/>
          <p:cNvSpPr/>
          <p:nvPr/>
        </p:nvSpPr>
        <p:spPr>
          <a:xfrm>
            <a:off x="6081395" y="4532630"/>
            <a:ext cx="294640" cy="447675"/>
          </a:xfrm>
          <a:prstGeom prst="down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
        <p:nvSpPr>
          <p:cNvPr id="16" name="Text Box 15"/>
          <p:cNvSpPr txBox="1"/>
          <p:nvPr/>
        </p:nvSpPr>
        <p:spPr>
          <a:xfrm>
            <a:off x="4285615" y="4552315"/>
            <a:ext cx="2332355" cy="337185"/>
          </a:xfrm>
          <a:prstGeom prst="rect">
            <a:avLst/>
          </a:prstGeom>
          <a:noFill/>
        </p:spPr>
        <p:txBody>
          <a:bodyPr wrap="square" rtlCol="0">
            <a:spAutoFit/>
          </a:bodyPr>
          <a:p>
            <a:r>
              <a:rPr lang="en-US">
                <a:highlight>
                  <a:srgbClr val="FFFF00"/>
                </a:highlight>
              </a:rPr>
              <a:t>threads   used</a:t>
            </a:r>
            <a:endParaRPr lang="en-US">
              <a:highlight>
                <a:srgbClr val="FFFF00"/>
              </a:highlight>
            </a:endParaRPr>
          </a:p>
        </p:txBody>
      </p:sp>
    </p:spTree>
  </p:cSld>
  <p:clrMapOvr>
    <a:masterClrMapping/>
  </p:clrMapOvr>
  <p:transition advTm="5014"/>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Server Process(Cont’d)</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Hybrid Architecture:</a:t>
            </a:r>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Many database systems use a hybrid architecture</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pic>
        <p:nvPicPr>
          <p:cNvPr id="9" name="Picture 8"/>
          <p:cNvPicPr>
            <a:picLocks noChangeAspect="1"/>
          </p:cNvPicPr>
          <p:nvPr/>
        </p:nvPicPr>
        <p:blipFill>
          <a:blip r:embed="rId1"/>
          <a:stretch>
            <a:fillRect/>
          </a:stretch>
        </p:blipFill>
        <p:spPr>
          <a:xfrm>
            <a:off x="1314450" y="2676525"/>
            <a:ext cx="4133850" cy="2924175"/>
          </a:xfrm>
          <a:prstGeom prst="rect">
            <a:avLst/>
          </a:prstGeom>
        </p:spPr>
      </p:pic>
    </p:spTree>
  </p:cSld>
  <p:clrMapOvr>
    <a:masterClrMapping/>
  </p:clrMapOvr>
  <p:transition advTm="5014"/>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Server Process</a:t>
            </a:r>
            <a:r>
              <a:rPr lang="en-US" altLang="en-US" dirty="0">
                <a:ea typeface="MS PGothic" panose="020B0600070205080204" pitchFamily="34" charset="-128"/>
              </a:rPr>
              <a:t>:These are processes that receive user queries (transactions), execute them, and send the results back. The queries may be submitted to the server processes from a user interface, or from a user process running embedded SQL, or via JDBC, ODBC, or similar protocols. Some database systems use a separate process for each user session, and a few use a single database process for all user sessions, but with multiple threads so that multiple queries can execute concurrently. (A thread is similar to a process, but multiple threads execute as part of the same process, and all threads within a process run in the same virtual-memory space. Multiple threads within a process can execute concurrently.) Many database systems use a hybrid architecture, with multiple processes, each one running multiple threads.</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spTree>
  </p:cSld>
  <p:clrMapOvr>
    <a:masterClrMapping/>
  </p:clrMapOvr>
  <p:transition advTm="5014"/>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Lock manager process:</a:t>
            </a:r>
            <a:r>
              <a:rPr lang="en-US" altLang="en-US" dirty="0">
                <a:ea typeface="MS PGothic" panose="020B0600070205080204" pitchFamily="34" charset="-128"/>
              </a:rPr>
              <a:t> Lock manager process is responsible for controlling concurrent access to database data.</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Lock: temporary prevent</a:t>
            </a:r>
            <a:endParaRPr lang="en-US" altLang="en-US" dirty="0">
              <a:ea typeface="MS PGothic" panose="020B0600070205080204" pitchFamily="34" charset="-128"/>
            </a:endParaRPr>
          </a:p>
          <a:p>
            <a:pPr algn="just"/>
            <a:r>
              <a:rPr lang="en-US" altLang="en-US" dirty="0">
                <a:ea typeface="MS PGothic" panose="020B0600070205080204" pitchFamily="34" charset="-128"/>
              </a:rPr>
              <a:t>Reponsibilities: lock grant, lock release, deadlock detection</a:t>
            </a:r>
            <a:endParaRPr lang="en-US" altLang="en-US" dirty="0">
              <a:ea typeface="MS PGothic" panose="020B0600070205080204" pitchFamily="34" charset="-128"/>
            </a:endParaRPr>
          </a:p>
        </p:txBody>
      </p:sp>
      <p:pic>
        <p:nvPicPr>
          <p:cNvPr id="2" name="Picture 1"/>
          <p:cNvPicPr>
            <a:picLocks noChangeAspect="1"/>
          </p:cNvPicPr>
          <p:nvPr/>
        </p:nvPicPr>
        <p:blipFill>
          <a:blip r:embed="rId1"/>
          <a:stretch>
            <a:fillRect/>
          </a:stretch>
        </p:blipFill>
        <p:spPr>
          <a:xfrm>
            <a:off x="2026920" y="2051685"/>
            <a:ext cx="3800475" cy="2219325"/>
          </a:xfrm>
          <a:prstGeom prst="rect">
            <a:avLst/>
          </a:prstGeom>
        </p:spPr>
      </p:pic>
    </p:spTree>
  </p:cSld>
  <p:clrMapOvr>
    <a:masterClrMapping/>
  </p:clrMapOvr>
  <p:transition advTm="5014"/>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Lock manager process(Cont’d):</a:t>
            </a:r>
            <a:r>
              <a:rPr lang="en-US" altLang="en-US" dirty="0">
                <a:ea typeface="MS PGothic" panose="020B0600070205080204" pitchFamily="34" charset="-128"/>
              </a:rPr>
              <a:t> </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Lock Grant: access permission for data</a:t>
            </a:r>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Transaction T1: “Can I use this data?”</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pic>
        <p:nvPicPr>
          <p:cNvPr id="4" name="Picture 3"/>
          <p:cNvPicPr>
            <a:picLocks noChangeAspect="1"/>
          </p:cNvPicPr>
          <p:nvPr/>
        </p:nvPicPr>
        <p:blipFill>
          <a:blip r:embed="rId1"/>
          <a:stretch>
            <a:fillRect/>
          </a:stretch>
        </p:blipFill>
        <p:spPr>
          <a:xfrm>
            <a:off x="1658620" y="2343785"/>
            <a:ext cx="2047875" cy="2714625"/>
          </a:xfrm>
          <a:prstGeom prst="rect">
            <a:avLst/>
          </a:prstGeom>
        </p:spPr>
      </p:pic>
      <p:sp>
        <p:nvSpPr>
          <p:cNvPr id="5" name="Text Box 4"/>
          <p:cNvSpPr txBox="1"/>
          <p:nvPr/>
        </p:nvSpPr>
        <p:spPr>
          <a:xfrm>
            <a:off x="3915410" y="2553970"/>
            <a:ext cx="3622040" cy="337185"/>
          </a:xfrm>
          <a:prstGeom prst="rect">
            <a:avLst/>
          </a:prstGeom>
          <a:noFill/>
        </p:spPr>
        <p:txBody>
          <a:bodyPr wrap="square" rtlCol="0">
            <a:spAutoFit/>
          </a:bodyPr>
          <a:p>
            <a:r>
              <a:rPr lang="en-US">
                <a:highlight>
                  <a:srgbClr val="FFFF00"/>
                </a:highlight>
              </a:rPr>
              <a:t>Lock Release: release locked data</a:t>
            </a:r>
            <a:endParaRPr lang="en-US">
              <a:highlight>
                <a:srgbClr val="FFFF00"/>
              </a:highlight>
            </a:endParaRPr>
          </a:p>
        </p:txBody>
      </p:sp>
      <p:pic>
        <p:nvPicPr>
          <p:cNvPr id="6" name="Picture 5"/>
          <p:cNvPicPr>
            <a:picLocks noChangeAspect="1"/>
          </p:cNvPicPr>
          <p:nvPr/>
        </p:nvPicPr>
        <p:blipFill>
          <a:blip r:embed="rId2"/>
          <a:stretch>
            <a:fillRect/>
          </a:stretch>
        </p:blipFill>
        <p:spPr>
          <a:xfrm>
            <a:off x="3915410" y="3029585"/>
            <a:ext cx="1981200" cy="2152650"/>
          </a:xfrm>
          <a:prstGeom prst="rect">
            <a:avLst/>
          </a:prstGeom>
        </p:spPr>
      </p:pic>
      <p:sp>
        <p:nvSpPr>
          <p:cNvPr id="7" name="Text Box 6"/>
          <p:cNvSpPr txBox="1"/>
          <p:nvPr/>
        </p:nvSpPr>
        <p:spPr>
          <a:xfrm>
            <a:off x="6371590" y="3091815"/>
            <a:ext cx="3622040" cy="337185"/>
          </a:xfrm>
          <a:prstGeom prst="rect">
            <a:avLst/>
          </a:prstGeom>
          <a:noFill/>
        </p:spPr>
        <p:txBody>
          <a:bodyPr wrap="square" rtlCol="0">
            <a:spAutoFit/>
          </a:bodyPr>
          <a:p>
            <a:r>
              <a:rPr lang="en-US">
                <a:highlight>
                  <a:srgbClr val="FFFF00"/>
                </a:highlight>
              </a:rPr>
              <a:t>Detection: detect the deadlock</a:t>
            </a:r>
            <a:endParaRPr lang="en-US">
              <a:highlight>
                <a:srgbClr val="FFFF00"/>
              </a:highlight>
            </a:endParaRPr>
          </a:p>
        </p:txBody>
      </p:sp>
      <p:pic>
        <p:nvPicPr>
          <p:cNvPr id="8" name="Picture 7"/>
          <p:cNvPicPr>
            <a:picLocks noChangeAspect="1"/>
          </p:cNvPicPr>
          <p:nvPr/>
        </p:nvPicPr>
        <p:blipFill>
          <a:blip r:embed="rId3"/>
          <a:stretch>
            <a:fillRect/>
          </a:stretch>
        </p:blipFill>
        <p:spPr>
          <a:xfrm>
            <a:off x="5896610" y="3629660"/>
            <a:ext cx="3638550" cy="2162175"/>
          </a:xfrm>
          <a:prstGeom prst="rect">
            <a:avLst/>
          </a:prstGeom>
        </p:spPr>
      </p:pic>
    </p:spTree>
  </p:cSld>
  <p:clrMapOvr>
    <a:masterClrMapping/>
  </p:clrMapOvr>
  <p:transition advTm="5014"/>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Lock manager process:</a:t>
            </a:r>
            <a:r>
              <a:rPr lang="en-US" altLang="en-US" dirty="0">
                <a:ea typeface="MS PGothic" panose="020B0600070205080204" pitchFamily="34" charset="-128"/>
              </a:rPr>
              <a:t> This process implements lock manager functionality, which includes lock grant, lock release, and deadlock detection</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Database writer process:</a:t>
            </a:r>
            <a:r>
              <a:rPr lang="en-US" altLang="en-US" dirty="0">
                <a:ea typeface="MS PGothic" panose="020B0600070205080204" pitchFamily="34" charset="-128"/>
              </a:rPr>
              <a:t> There are one or more processes that output modified buffer blocks back to disk on a continuous basis</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Log writer process:</a:t>
            </a:r>
            <a:r>
              <a:rPr lang="en-US" altLang="en-US" dirty="0">
                <a:ea typeface="MS PGothic" panose="020B0600070205080204" pitchFamily="34" charset="-128"/>
              </a:rPr>
              <a:t> This process outputs log records from the log record buffer to stable storage. Server processes simply add log records to the log record buffer in shared memory, and if a log force is required, they request the log writer process to output log records (recall that a log force causes the log contents in memory to be output to stable storage)</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Checkpoint process: </a:t>
            </a:r>
            <a:r>
              <a:rPr lang="en-US" altLang="en-US" dirty="0">
                <a:ea typeface="MS PGothic" panose="020B0600070205080204" pitchFamily="34" charset="-128"/>
              </a:rPr>
              <a:t>This process performs periodic checkpoints</a:t>
            </a:r>
            <a:endParaRPr lang="en-US" altLang="en-US" dirty="0">
              <a:ea typeface="MS PGothic" panose="020B0600070205080204" pitchFamily="34" charset="-128"/>
            </a:endParaRPr>
          </a:p>
          <a:p>
            <a:pPr algn="just"/>
            <a:r>
              <a:rPr lang="en-US" altLang="en-US" dirty="0">
                <a:highlight>
                  <a:srgbClr val="FFFF00"/>
                </a:highlight>
                <a:ea typeface="MS PGothic" panose="020B0600070205080204" pitchFamily="34" charset="-128"/>
              </a:rPr>
              <a:t>Process monitor process:</a:t>
            </a:r>
            <a:r>
              <a:rPr lang="en-US" altLang="en-US" dirty="0">
                <a:ea typeface="MS PGothic" panose="020B0600070205080204" pitchFamily="34" charset="-128"/>
              </a:rPr>
              <a:t> This process monitors other processes, and if any of them fails, it takes recovery actions for the process, such as aborting any transaction being executed by the failed process and then restarting the process.</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Tree>
  </p:cSld>
  <p:clrMapOvr>
    <a:masterClrMapping/>
  </p:clrMapOvr>
  <p:transition advTm="5014"/>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Transaction-Server Architecture(Cont’d)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The shared memory contains all shared data, such as:</a:t>
            </a:r>
            <a:endParaRPr lang="en-US" altLang="en-US" dirty="0">
              <a:ea typeface="MS PGothic" panose="020B0600070205080204" pitchFamily="34" charset="-128"/>
            </a:endParaRPr>
          </a:p>
          <a:p>
            <a:pPr algn="just"/>
            <a:r>
              <a:rPr lang="en-US" altLang="en-US" dirty="0">
                <a:ea typeface="MS PGothic" panose="020B0600070205080204" pitchFamily="34" charset="-128"/>
              </a:rPr>
              <a:t> Buffer pool</a:t>
            </a:r>
            <a:endParaRPr lang="en-US" altLang="en-US" dirty="0">
              <a:ea typeface="MS PGothic" panose="020B0600070205080204" pitchFamily="34" charset="-128"/>
            </a:endParaRPr>
          </a:p>
          <a:p>
            <a:pPr algn="just"/>
            <a:r>
              <a:rPr lang="en-US" altLang="en-US" dirty="0">
                <a:ea typeface="MS PGothic" panose="020B0600070205080204" pitchFamily="34" charset="-128"/>
              </a:rPr>
              <a:t> Lock table</a:t>
            </a:r>
            <a:endParaRPr lang="en-US" altLang="en-US" dirty="0">
              <a:ea typeface="MS PGothic" panose="020B0600070205080204" pitchFamily="34" charset="-128"/>
            </a:endParaRPr>
          </a:p>
          <a:p>
            <a:pPr algn="just"/>
            <a:r>
              <a:rPr lang="en-US" altLang="en-US" dirty="0">
                <a:ea typeface="MS PGothic" panose="020B0600070205080204" pitchFamily="34" charset="-128"/>
              </a:rPr>
              <a:t> Log buffer, containing log records waiting to be output to the log on stable storage.</a:t>
            </a:r>
            <a:endParaRPr lang="en-US" altLang="en-US" dirty="0">
              <a:ea typeface="MS PGothic" panose="020B0600070205080204" pitchFamily="34" charset="-128"/>
            </a:endParaRPr>
          </a:p>
          <a:p>
            <a:pPr algn="just"/>
            <a:r>
              <a:rPr lang="en-US" altLang="en-US" dirty="0">
                <a:ea typeface="MS PGothic" panose="020B0600070205080204" pitchFamily="34" charset="-128"/>
              </a:rPr>
              <a:t> Cached query plans, which can be reused if the same query is submitted again.</a:t>
            </a:r>
            <a:endParaRPr lang="en-US" altLang="en-US" dirty="0">
              <a:ea typeface="MS PGothic" panose="020B0600070205080204" pitchFamily="34" charset="-128"/>
            </a:endParaRPr>
          </a:p>
          <a:p>
            <a:pPr algn="just"/>
            <a:r>
              <a:rPr lang="en-US" altLang="en-US" dirty="0">
                <a:ea typeface="MS PGothic" panose="020B0600070205080204" pitchFamily="34" charset="-128"/>
              </a:rPr>
              <a:t>All database processes can access the data in shared memory. Since multiple processes may read or perform updates on data structures in shared memory, there must be a mechanism to ensure </a:t>
            </a:r>
            <a:r>
              <a:rPr lang="en-US" altLang="en-US" dirty="0">
                <a:highlight>
                  <a:srgbClr val="00FF00"/>
                </a:highlight>
                <a:ea typeface="MS PGothic" panose="020B0600070205080204" pitchFamily="34" charset="-128"/>
              </a:rPr>
              <a:t>mutual exclusion</a:t>
            </a:r>
            <a:endParaRPr lang="en-US" altLang="en-US" dirty="0">
              <a:highlight>
                <a:srgbClr val="00FF00"/>
              </a:highlight>
              <a:ea typeface="MS PGothic" panose="020B0600070205080204" pitchFamily="34" charset="-128"/>
            </a:endParaRPr>
          </a:p>
          <a:p>
            <a:pPr algn="just"/>
            <a:r>
              <a:rPr lang="en-US" altLang="en-US" dirty="0">
                <a:highlight>
                  <a:srgbClr val="FFFF00"/>
                </a:highlight>
                <a:ea typeface="MS PGothic" panose="020B0600070205080204" pitchFamily="34" charset="-128"/>
              </a:rPr>
              <a:t>Mutual Exclusion:</a:t>
            </a:r>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To ensure that a data structure is modified by at most one process at a time, and no process is reading a data structure while it is being written by other processes.</a:t>
            </a:r>
            <a:endParaRPr lang="en-US" altLang="en-US" dirty="0">
              <a:ea typeface="MS PGothic" panose="020B0600070205080204" pitchFamily="34" charset="-128"/>
            </a:endParaRPr>
          </a:p>
        </p:txBody>
      </p:sp>
    </p:spTree>
  </p:cSld>
  <p:clrMapOvr>
    <a:masterClrMapping/>
  </p:clrMapOvr>
  <p:transition advTm="5014"/>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68350" y="376555"/>
            <a:ext cx="8077200" cy="609600"/>
          </a:xfrm>
        </p:spPr>
        <p:txBody>
          <a:bodyPr/>
          <a:lstStyle/>
          <a:p>
            <a:pPr>
              <a:defRPr/>
            </a:pPr>
            <a:r>
              <a:rPr lang="en-US" altLang="en-US" dirty="0">
                <a:effectLst>
                  <a:outerShdw blurRad="38100" dist="38100" dir="2700000" algn="tl">
                    <a:srgbClr val="C0C0C0"/>
                  </a:outerShdw>
                </a:effectLst>
                <a:ea typeface="MS PGothic" panose="020B0600070205080204" pitchFamily="34" charset="-128"/>
              </a:rPr>
              <a:t>Why Mutual Exclusion Is Needed in Multiple DBMS Processes?</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pic>
        <p:nvPicPr>
          <p:cNvPr id="4" name="Picture 3"/>
          <p:cNvPicPr>
            <a:picLocks noChangeAspect="1"/>
          </p:cNvPicPr>
          <p:nvPr/>
        </p:nvPicPr>
        <p:blipFill>
          <a:blip r:embed="rId1"/>
          <a:stretch>
            <a:fillRect/>
          </a:stretch>
        </p:blipFill>
        <p:spPr>
          <a:xfrm>
            <a:off x="2198370" y="1608455"/>
            <a:ext cx="3088005" cy="4215765"/>
          </a:xfrm>
          <a:prstGeom prst="rect">
            <a:avLst/>
          </a:prstGeom>
        </p:spPr>
      </p:pic>
      <p:sp>
        <p:nvSpPr>
          <p:cNvPr id="6" name="Text Box 5"/>
          <p:cNvSpPr txBox="1"/>
          <p:nvPr/>
        </p:nvSpPr>
        <p:spPr>
          <a:xfrm>
            <a:off x="839470" y="5871210"/>
            <a:ext cx="7832090" cy="398780"/>
          </a:xfrm>
          <a:prstGeom prst="rect">
            <a:avLst/>
          </a:prstGeom>
        </p:spPr>
        <p:txBody>
          <a:bodyPr wrap="square">
            <a:spAutoFit/>
          </a:bodyPr>
          <a:p>
            <a:pPr marL="342900" indent="-342900">
              <a:buFont typeface="Wingdings" panose="05000000000000000000" charset="0"/>
              <a:buChar char="§"/>
            </a:pPr>
            <a:r>
              <a:rPr lang="en-US" sz="2000">
                <a:solidFill>
                  <a:srgbClr val="231F20"/>
                </a:solidFill>
                <a:latin typeface="+mn-lt"/>
                <a:ea typeface="NimbusRomDOT"/>
                <a:cs typeface="+mn-lt"/>
              </a:rPr>
              <a:t>T</a:t>
            </a:r>
            <a:r>
              <a:rPr sz="2000">
                <a:solidFill>
                  <a:srgbClr val="231F20"/>
                </a:solidFill>
                <a:latin typeface="+mn-lt"/>
                <a:ea typeface="NimbusRomDOT"/>
                <a:cs typeface="+mn-lt"/>
              </a:rPr>
              <a:t>he atomic instructions can be used for mutual exclusion</a:t>
            </a:r>
            <a:r>
              <a:rPr lang="en-US" sz="2000">
                <a:solidFill>
                  <a:srgbClr val="231F20"/>
                </a:solidFill>
                <a:latin typeface="+mn-lt"/>
                <a:ea typeface="NimbusRomDOT"/>
                <a:cs typeface="+mn-lt"/>
              </a:rPr>
              <a:t>.</a:t>
            </a:r>
            <a:endParaRPr lang="en-US" sz="2000">
              <a:solidFill>
                <a:srgbClr val="231F20"/>
              </a:solidFill>
              <a:latin typeface="+mn-lt"/>
              <a:ea typeface="NimbusRomDOT"/>
              <a:cs typeface="+mn-lt"/>
            </a:endParaRPr>
          </a:p>
        </p:txBody>
      </p:sp>
    </p:spTree>
  </p:cSld>
  <p:clrMapOvr>
    <a:masterClrMapping/>
  </p:clrMapOvr>
  <p:transition advTm="5014"/>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Mutex Vs Latch</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graphicFrame>
        <p:nvGraphicFramePr>
          <p:cNvPr id="2" name="Table 1"/>
          <p:cNvGraphicFramePr/>
          <p:nvPr/>
        </p:nvGraphicFramePr>
        <p:xfrm>
          <a:off x="839470" y="2131060"/>
          <a:ext cx="7893685" cy="1173480"/>
        </p:xfrm>
        <a:graphic>
          <a:graphicData uri="http://schemas.openxmlformats.org/drawingml/2006/table">
            <a:tbl>
              <a:tblPr/>
              <a:tblGrid>
                <a:gridCol w="2651125"/>
                <a:gridCol w="2621280"/>
                <a:gridCol w="2621280"/>
              </a:tblGrid>
              <a:tr h="0">
                <a:tc>
                  <a:txBody>
                    <a:bodyPr/>
                    <a:p>
                      <a:pPr algn="ct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Mutex</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Latch</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lang="en-US" sz="1100"/>
                        <a:t>Concept</a:t>
                      </a:r>
                      <a:endParaRPr lang="en-US"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Mutual exclusion lock</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Short-term internal lock</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Main purpose</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Protect a </a:t>
                      </a:r>
                      <a:r>
                        <a:rPr sz="1100"/>
                        <a:t>critical section/resource</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Protect </a:t>
                      </a:r>
                      <a:r>
                        <a:rPr sz="1100"/>
                        <a:t>in-memory DB structures</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Duration</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Can be relatively long</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Usually </a:t>
                      </a:r>
                      <a:r>
                        <a:rPr sz="1100"/>
                        <a:t>very short</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Used by</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Threads/processes</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Mainly DBMS internal operations</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Example</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Only one thread accesses a shared resource</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Protecting a buffer-pool page/frame or hash-table entry</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bl>
          </a:graphicData>
        </a:graphic>
      </p:graphicFrame>
      <p:sp>
        <p:nvSpPr>
          <p:cNvPr id="4"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ea typeface="MS PGothic" panose="020B0600070205080204" pitchFamily="34" charset="-128"/>
              </a:rPr>
              <a:t>Both are used in DBMS for concurrency control.</a:t>
            </a:r>
            <a:endParaRPr lang="en-US" altLang="en-US" dirty="0">
              <a:ea typeface="MS PGothic" panose="020B0600070205080204" pitchFamily="34" charset="-128"/>
            </a:endParaRPr>
          </a:p>
        </p:txBody>
      </p:sp>
    </p:spTree>
  </p:cSld>
  <p:clrMapOvr>
    <a:masterClrMapping/>
  </p:clrMapOvr>
  <p:transition advTm="5014"/>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What is an atomic instruction?</a:t>
            </a:r>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An atomic instruction is an instruction that is performed as one indivisible operation.(Atomic = cannot be interrupted in the middle)</a:t>
            </a:r>
            <a:endParaRPr lang="en-US" altLang="en-US" dirty="0">
              <a:ea typeface="MS PGothic" panose="020B0600070205080204" pitchFamily="34" charset="-128"/>
            </a:endParaRPr>
          </a:p>
          <a:p>
            <a:pPr algn="just"/>
            <a:r>
              <a:rPr lang="en-US" altLang="en-US" dirty="0">
                <a:ea typeface="MS PGothic" panose="020B0600070205080204" pitchFamily="34" charset="-128"/>
              </a:rPr>
              <a:t>When a process executes an atomic instruction:Either the entire operation happens, or it does not happen at all.</a:t>
            </a:r>
            <a:endParaRPr lang="en-US" altLang="en-US" dirty="0">
              <a:ea typeface="MS PGothic" panose="020B0600070205080204" pitchFamily="34" charset="-128"/>
            </a:endParaRPr>
          </a:p>
          <a:p>
            <a:pPr algn="just"/>
            <a:r>
              <a:rPr lang="en-US" altLang="en-US" dirty="0">
                <a:ea typeface="MS PGothic" panose="020B0600070205080204" pitchFamily="34" charset="-128"/>
              </a:rPr>
              <a:t>Another process cannot interfere between the steps of that operation.</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p:txBody>
      </p:sp>
      <p:pic>
        <p:nvPicPr>
          <p:cNvPr id="7" name="Picture 6"/>
          <p:cNvPicPr>
            <a:picLocks noChangeAspect="1"/>
          </p:cNvPicPr>
          <p:nvPr/>
        </p:nvPicPr>
        <p:blipFill>
          <a:blip r:embed="rId1"/>
          <a:stretch>
            <a:fillRect/>
          </a:stretch>
        </p:blipFill>
        <p:spPr>
          <a:xfrm>
            <a:off x="2574925" y="3697605"/>
            <a:ext cx="2400300" cy="1996440"/>
          </a:xfrm>
          <a:prstGeom prst="rect">
            <a:avLst/>
          </a:prstGeom>
        </p:spPr>
      </p:pic>
      <p:sp>
        <p:nvSpPr>
          <p:cNvPr id="8" name="Left Arrow 7"/>
          <p:cNvSpPr/>
          <p:nvPr/>
        </p:nvSpPr>
        <p:spPr>
          <a:xfrm>
            <a:off x="4583430" y="3769360"/>
            <a:ext cx="1179195" cy="174625"/>
          </a:xfrm>
          <a:prstGeom prst="lef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
        <p:nvSpPr>
          <p:cNvPr id="9" name="Text Box 8"/>
          <p:cNvSpPr txBox="1"/>
          <p:nvPr/>
        </p:nvSpPr>
        <p:spPr>
          <a:xfrm>
            <a:off x="6130925" y="3662045"/>
            <a:ext cx="1343660" cy="337185"/>
          </a:xfrm>
          <a:prstGeom prst="rect">
            <a:avLst/>
          </a:prstGeom>
          <a:noFill/>
        </p:spPr>
        <p:txBody>
          <a:bodyPr wrap="square" rtlCol="0">
            <a:spAutoFit/>
          </a:bodyPr>
          <a:p>
            <a:r>
              <a:rPr lang="en-US"/>
              <a:t>Concept</a:t>
            </a:r>
            <a:endParaRPr lang="en-US"/>
          </a:p>
        </p:txBody>
      </p:sp>
      <p:sp>
        <p:nvSpPr>
          <p:cNvPr id="10" name="Left Arrow 9"/>
          <p:cNvSpPr/>
          <p:nvPr/>
        </p:nvSpPr>
        <p:spPr>
          <a:xfrm>
            <a:off x="5511800" y="4425315"/>
            <a:ext cx="464185" cy="185420"/>
          </a:xfrm>
          <a:prstGeom prst="lef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
        <p:nvSpPr>
          <p:cNvPr id="11" name="Text Box 10"/>
          <p:cNvSpPr txBox="1"/>
          <p:nvPr/>
        </p:nvSpPr>
        <p:spPr>
          <a:xfrm>
            <a:off x="6062980" y="4398010"/>
            <a:ext cx="1343660" cy="337185"/>
          </a:xfrm>
          <a:prstGeom prst="rect">
            <a:avLst/>
          </a:prstGeom>
          <a:noFill/>
        </p:spPr>
        <p:txBody>
          <a:bodyPr wrap="square" rtlCol="0">
            <a:spAutoFit/>
          </a:bodyPr>
          <a:p>
            <a:r>
              <a:rPr lang="en-US"/>
              <a:t>Methods</a:t>
            </a:r>
            <a:endParaRPr lang="en-US"/>
          </a:p>
        </p:txBody>
      </p:sp>
      <p:sp>
        <p:nvSpPr>
          <p:cNvPr id="13" name="Right Brace 12"/>
          <p:cNvSpPr/>
          <p:nvPr/>
        </p:nvSpPr>
        <p:spPr>
          <a:xfrm>
            <a:off x="5151120" y="4368800"/>
            <a:ext cx="232410" cy="344170"/>
          </a:xfrm>
          <a:prstGeom prst="rightBrac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Tree>
  </p:cSld>
  <p:clrMapOvr>
    <a:masterClrMapping/>
  </p:clrMapOvr>
  <p:transition advTm="5014"/>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Suppose two processes(P1 and P2)  trying to get the same lock.</a:t>
            </a:r>
            <a:endParaRPr lang="en-US" altLang="en-US" dirty="0">
              <a:ea typeface="MS PGothic" panose="020B0600070205080204" pitchFamily="34" charset="-128"/>
            </a:endParaRPr>
          </a:p>
          <a:p>
            <a:pPr algn="just"/>
            <a:r>
              <a:rPr lang="en-US" altLang="en-US" dirty="0">
                <a:ea typeface="MS PGothic" panose="020B0600070205080204" pitchFamily="34" charset="-128"/>
              </a:rPr>
              <a:t>Virtual Memory address M = 0, 0 means: Lock is free</a:t>
            </a:r>
            <a:endParaRPr lang="en-US" altLang="en-US" dirty="0">
              <a:ea typeface="MS PGothic" panose="020B0600070205080204" pitchFamily="34" charset="-128"/>
            </a:endParaRPr>
          </a:p>
          <a:p>
            <a:pPr algn="just"/>
            <a:r>
              <a:rPr lang="en-US" altLang="en-US" dirty="0">
                <a:sym typeface="+mn-ea"/>
              </a:rPr>
              <a:t>M = 1, </a:t>
            </a:r>
            <a:r>
              <a:rPr lang="en-US" altLang="en-US" dirty="0">
                <a:ea typeface="MS PGothic" panose="020B0600070205080204" pitchFamily="34" charset="-128"/>
              </a:rPr>
              <a:t>1 means: Lock is occupied</a:t>
            </a:r>
            <a:endParaRPr lang="en-US" altLang="en-US" dirty="0">
              <a:ea typeface="MS PGothic" panose="020B0600070205080204" pitchFamily="34" charset="-128"/>
            </a:endParaRPr>
          </a:p>
          <a:p>
            <a:pPr algn="just"/>
            <a:r>
              <a:rPr lang="en-US" altLang="en-US" dirty="0">
                <a:ea typeface="MS PGothic" panose="020B0600070205080204" pitchFamily="34" charset="-128"/>
              </a:rPr>
              <a:t>Without an atomic operation</a:t>
            </a:r>
            <a:endParaRPr lang="en-US" altLang="en-US" dirty="0">
              <a:ea typeface="MS PGothic" panose="020B0600070205080204" pitchFamily="34" charset="-128"/>
            </a:endParaRPr>
          </a:p>
          <a:p>
            <a:pPr algn="just"/>
            <a:r>
              <a:rPr lang="en-US" altLang="en-US" dirty="0">
                <a:ea typeface="MS PGothic" panose="020B0600070205080204" pitchFamily="34" charset="-128"/>
              </a:rPr>
              <a:t>P1 and P2 both check the lock:</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Then both set it to 1:</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Now both P1 and P2 think they own the lock. So they might both enter the critical section:</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Test and Set atomic instruction</a:t>
            </a:r>
            <a:endParaRPr lang="en-US" altLang="en-US" dirty="0">
              <a:ea typeface="MS PGothic" panose="020B0600070205080204" pitchFamily="34" charset="-128"/>
            </a:endParaRPr>
          </a:p>
        </p:txBody>
      </p:sp>
      <p:pic>
        <p:nvPicPr>
          <p:cNvPr id="2" name="Picture 1"/>
          <p:cNvPicPr>
            <a:picLocks noChangeAspect="1"/>
          </p:cNvPicPr>
          <p:nvPr/>
        </p:nvPicPr>
        <p:blipFill>
          <a:blip r:embed="rId1"/>
          <a:stretch>
            <a:fillRect/>
          </a:stretch>
        </p:blipFill>
        <p:spPr>
          <a:xfrm>
            <a:off x="1314450" y="3841750"/>
            <a:ext cx="2171700" cy="556260"/>
          </a:xfrm>
          <a:prstGeom prst="rect">
            <a:avLst/>
          </a:prstGeom>
        </p:spPr>
      </p:pic>
      <p:pic>
        <p:nvPicPr>
          <p:cNvPr id="4" name="Picture 3"/>
          <p:cNvPicPr>
            <a:picLocks noChangeAspect="1"/>
          </p:cNvPicPr>
          <p:nvPr/>
        </p:nvPicPr>
        <p:blipFill>
          <a:blip r:embed="rId2"/>
          <a:stretch>
            <a:fillRect/>
          </a:stretch>
        </p:blipFill>
        <p:spPr>
          <a:xfrm>
            <a:off x="1314450" y="5349875"/>
            <a:ext cx="937260" cy="472440"/>
          </a:xfrm>
          <a:prstGeom prst="rect">
            <a:avLst/>
          </a:prstGeom>
        </p:spPr>
      </p:pic>
    </p:spTree>
  </p:cSld>
  <p:clrMapOvr>
    <a:masterClrMapping/>
  </p:clrMapOvr>
  <p:transition advTm="5014"/>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This is called a race condition that cause mutual exclusion failure.</a:t>
            </a:r>
            <a:endParaRPr lang="en-US" altLang="en-US" dirty="0">
              <a:ea typeface="MS PGothic" panose="020B0600070205080204" pitchFamily="34" charset="-128"/>
            </a:endParaRPr>
          </a:p>
          <a:p>
            <a:pPr algn="just"/>
            <a:r>
              <a:rPr lang="en-US" altLang="en-US" dirty="0">
                <a:ea typeface="MS PGothic" panose="020B0600070205080204" pitchFamily="34" charset="-128"/>
              </a:rPr>
              <a:t>A race condition happens when two or more processes access or modify the same shared data at nearly the same time, and the final result depends on which process happens first.</a:t>
            </a:r>
            <a:endParaRPr lang="en-US" altLang="en-US" dirty="0">
              <a:ea typeface="MS PGothic" panose="020B0600070205080204" pitchFamily="34" charset="-128"/>
            </a:endParaRPr>
          </a:p>
          <a:p>
            <a:pPr algn="just"/>
            <a:r>
              <a:rPr lang="en-US" altLang="en-US" dirty="0">
                <a:ea typeface="MS PGothic" panose="020B0600070205080204" pitchFamily="34" charset="-128"/>
              </a:rPr>
              <a:t>E.g., </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Test and Set atomic instruction</a:t>
            </a:r>
            <a:endParaRPr lang="en-US" altLang="en-US" dirty="0">
              <a:ea typeface="MS PGothic" panose="020B0600070205080204" pitchFamily="34" charset="-128"/>
            </a:endParaRPr>
          </a:p>
        </p:txBody>
      </p:sp>
      <p:pic>
        <p:nvPicPr>
          <p:cNvPr id="5" name="Picture 4"/>
          <p:cNvPicPr>
            <a:picLocks noChangeAspect="1"/>
          </p:cNvPicPr>
          <p:nvPr/>
        </p:nvPicPr>
        <p:blipFill>
          <a:blip r:embed="rId1"/>
          <a:stretch>
            <a:fillRect/>
          </a:stretch>
        </p:blipFill>
        <p:spPr>
          <a:xfrm>
            <a:off x="1597660" y="1682115"/>
            <a:ext cx="1798320" cy="960120"/>
          </a:xfrm>
          <a:prstGeom prst="rect">
            <a:avLst/>
          </a:prstGeom>
        </p:spPr>
      </p:pic>
      <p:pic>
        <p:nvPicPr>
          <p:cNvPr id="2" name="Picture 1"/>
          <p:cNvPicPr>
            <a:picLocks noChangeAspect="1"/>
          </p:cNvPicPr>
          <p:nvPr/>
        </p:nvPicPr>
        <p:blipFill>
          <a:blip r:embed="rId2"/>
          <a:stretch>
            <a:fillRect/>
          </a:stretch>
        </p:blipFill>
        <p:spPr>
          <a:xfrm>
            <a:off x="2975610" y="3978910"/>
            <a:ext cx="1477645" cy="1124585"/>
          </a:xfrm>
          <a:prstGeom prst="rect">
            <a:avLst/>
          </a:prstGeom>
        </p:spPr>
      </p:pic>
      <p:pic>
        <p:nvPicPr>
          <p:cNvPr id="4" name="Picture 3"/>
          <p:cNvPicPr>
            <a:picLocks noChangeAspect="1"/>
          </p:cNvPicPr>
          <p:nvPr/>
        </p:nvPicPr>
        <p:blipFill>
          <a:blip r:embed="rId3"/>
          <a:stretch>
            <a:fillRect/>
          </a:stretch>
        </p:blipFill>
        <p:spPr>
          <a:xfrm>
            <a:off x="3086100" y="5396230"/>
            <a:ext cx="990600" cy="281940"/>
          </a:xfrm>
          <a:prstGeom prst="rect">
            <a:avLst/>
          </a:prstGeom>
        </p:spPr>
      </p:pic>
      <p:sp>
        <p:nvSpPr>
          <p:cNvPr id="6" name="Text Box 5"/>
          <p:cNvSpPr txBox="1"/>
          <p:nvPr/>
        </p:nvSpPr>
        <p:spPr>
          <a:xfrm>
            <a:off x="4793615" y="5396230"/>
            <a:ext cx="2697480" cy="337185"/>
          </a:xfrm>
          <a:prstGeom prst="rect">
            <a:avLst/>
          </a:prstGeom>
          <a:noFill/>
        </p:spPr>
        <p:txBody>
          <a:bodyPr wrap="square" rtlCol="0">
            <a:spAutoFit/>
          </a:bodyPr>
          <a:p>
            <a:r>
              <a:rPr lang="en-US"/>
              <a:t>no race condition</a:t>
            </a:r>
            <a:endParaRPr lang="en-US"/>
          </a:p>
        </p:txBody>
      </p:sp>
      <p:sp>
        <p:nvSpPr>
          <p:cNvPr id="7" name="Left Arrow 6"/>
          <p:cNvSpPr/>
          <p:nvPr/>
        </p:nvSpPr>
        <p:spPr>
          <a:xfrm>
            <a:off x="4266565" y="5503545"/>
            <a:ext cx="380365" cy="183515"/>
          </a:xfrm>
          <a:prstGeom prst="lef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Tree>
  </p:cSld>
  <p:clrMapOvr>
    <a:masterClrMapping/>
  </p:clrMapOvr>
  <p:transition advTm="5014"/>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Test and Set atomic instruction</a:t>
            </a:r>
            <a:endParaRPr lang="en-US" altLang="en-US" dirty="0">
              <a:ea typeface="MS PGothic" panose="020B0600070205080204" pitchFamily="34" charset="-128"/>
            </a:endParaRPr>
          </a:p>
        </p:txBody>
      </p:sp>
      <p:pic>
        <p:nvPicPr>
          <p:cNvPr id="8" name="Picture 7"/>
          <p:cNvPicPr>
            <a:picLocks noChangeAspect="1"/>
          </p:cNvPicPr>
          <p:nvPr/>
        </p:nvPicPr>
        <p:blipFill>
          <a:blip r:embed="rId1"/>
          <a:stretch>
            <a:fillRect/>
          </a:stretch>
        </p:blipFill>
        <p:spPr>
          <a:xfrm>
            <a:off x="1739265" y="1943100"/>
            <a:ext cx="1602105" cy="1565910"/>
          </a:xfrm>
          <a:prstGeom prst="rect">
            <a:avLst/>
          </a:prstGeom>
        </p:spPr>
      </p:pic>
      <p:sp>
        <p:nvSpPr>
          <p:cNvPr id="9" name="Text Box 8"/>
          <p:cNvSpPr txBox="1"/>
          <p:nvPr/>
        </p:nvSpPr>
        <p:spPr>
          <a:xfrm>
            <a:off x="4338955" y="2553970"/>
            <a:ext cx="2697480" cy="337185"/>
          </a:xfrm>
          <a:prstGeom prst="rect">
            <a:avLst/>
          </a:prstGeom>
          <a:noFill/>
        </p:spPr>
        <p:txBody>
          <a:bodyPr wrap="square" rtlCol="0">
            <a:spAutoFit/>
          </a:bodyPr>
          <a:p>
            <a:r>
              <a:rPr lang="en-US"/>
              <a:t> race condition</a:t>
            </a:r>
            <a:endParaRPr lang="en-US"/>
          </a:p>
        </p:txBody>
      </p:sp>
      <p:sp>
        <p:nvSpPr>
          <p:cNvPr id="10" name="Left Arrow 9"/>
          <p:cNvSpPr/>
          <p:nvPr/>
        </p:nvSpPr>
        <p:spPr>
          <a:xfrm>
            <a:off x="3524885" y="2654300"/>
            <a:ext cx="624205" cy="227965"/>
          </a:xfrm>
          <a:prstGeom prst="lef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Tree>
  </p:cSld>
  <p:clrMapOvr>
    <a:masterClrMapping/>
  </p:clrMapOvr>
  <p:transition advTm="5014"/>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algn="just"/>
            <a:r>
              <a:rPr lang="en-US" altLang="en-US" dirty="0">
                <a:highlight>
                  <a:srgbClr val="FFFF00"/>
                </a:highlight>
                <a:ea typeface="MS PGothic" panose="020B0600070205080204" pitchFamily="34" charset="-128"/>
              </a:rPr>
              <a:t>How to solve race condition by test and set atomic instruction?</a:t>
            </a:r>
            <a:endParaRPr lang="en-US" altLang="en-US" dirty="0">
              <a:highlight>
                <a:srgbClr val="FFFF00"/>
              </a:highlight>
              <a:ea typeface="MS PGothic" panose="020B0600070205080204" pitchFamily="34" charset="-128"/>
            </a:endParaRPr>
          </a:p>
          <a:p>
            <a:pPr indent="-233680" algn="just"/>
            <a:r>
              <a:rPr lang="en-US" altLang="en-US" dirty="0">
                <a:ea typeface="MS PGothic" panose="020B0600070205080204" pitchFamily="34" charset="-128"/>
              </a:rPr>
              <a:t>Test-and-Set combines:</a:t>
            </a:r>
            <a:endParaRPr lang="en-US" altLang="en-US" dirty="0">
              <a:ea typeface="MS PGothic" panose="020B0600070205080204" pitchFamily="34" charset="-128"/>
            </a:endParaRPr>
          </a:p>
          <a:p>
            <a:pPr algn="just"/>
            <a:r>
              <a:rPr lang="en-US" altLang="en-US" dirty="0">
                <a:ea typeface="MS PGothic" panose="020B0600070205080204" pitchFamily="34" charset="-128"/>
              </a:rPr>
              <a:t>Read the value + set it to 1 into one atomic operation: test-and-set(M)</a:t>
            </a:r>
            <a:endParaRPr lang="en-US" altLang="en-US" dirty="0">
              <a:ea typeface="MS PGothic" panose="020B0600070205080204" pitchFamily="34" charset="-128"/>
            </a:endParaRPr>
          </a:p>
          <a:p>
            <a:pPr algn="just"/>
            <a:r>
              <a:rPr lang="en-US" altLang="en-US" dirty="0">
                <a:ea typeface="MS PGothic" panose="020B0600070205080204" pitchFamily="34" charset="-128"/>
              </a:rPr>
              <a:t>P1 executes first</a:t>
            </a:r>
            <a:endParaRPr lang="en-US" altLang="en-US" dirty="0">
              <a:ea typeface="MS PGothic" panose="020B0600070205080204" pitchFamily="34" charset="-128"/>
            </a:endParaRPr>
          </a:p>
          <a:p>
            <a:pPr algn="just"/>
            <a:r>
              <a:rPr lang="en-US" altLang="en-US" dirty="0">
                <a:ea typeface="MS PGothic" panose="020B0600070205080204" pitchFamily="34" charset="-128"/>
              </a:rPr>
              <a:t>Initially: M = 0</a:t>
            </a:r>
            <a:endParaRPr lang="en-US" altLang="en-US" dirty="0">
              <a:ea typeface="MS PGothic" panose="020B0600070205080204" pitchFamily="34" charset="-128"/>
            </a:endParaRPr>
          </a:p>
          <a:p>
            <a:pPr algn="just"/>
            <a:r>
              <a:rPr lang="en-US" altLang="en-US" dirty="0">
                <a:ea typeface="MS PGothic" panose="020B0600070205080204" pitchFamily="34" charset="-128"/>
              </a:rPr>
              <a:t>P1: test-and-set(M)</a:t>
            </a:r>
            <a:endParaRPr lang="en-US" altLang="en-US" dirty="0">
              <a:ea typeface="MS PGothic" panose="020B0600070205080204" pitchFamily="34" charset="-128"/>
            </a:endParaRPr>
          </a:p>
          <a:p>
            <a:pPr algn="just"/>
            <a:r>
              <a:rPr lang="en-US" altLang="en-US" dirty="0">
                <a:ea typeface="MS PGothic" panose="020B0600070205080204" pitchFamily="34" charset="-128"/>
              </a:rPr>
              <a:t>The operation does:</a:t>
            </a:r>
            <a:endParaRPr lang="en-US" altLang="en-US" dirty="0">
              <a:ea typeface="MS PGothic" panose="020B0600070205080204" pitchFamily="34" charset="-128"/>
            </a:endParaRPr>
          </a:p>
          <a:p>
            <a:pPr algn="just"/>
            <a:r>
              <a:rPr lang="en-US" altLang="en-US" dirty="0">
                <a:ea typeface="MS PGothic" panose="020B0600070205080204" pitchFamily="34" charset="-128"/>
              </a:rPr>
              <a:t>Read M → 0</a:t>
            </a:r>
            <a:endParaRPr lang="en-US" altLang="en-US" dirty="0">
              <a:ea typeface="MS PGothic" panose="020B0600070205080204" pitchFamily="34" charset="-128"/>
            </a:endParaRPr>
          </a:p>
          <a:p>
            <a:pPr algn="just"/>
            <a:r>
              <a:rPr lang="en-US" altLang="en-US" dirty="0">
                <a:ea typeface="MS PGothic" panose="020B0600070205080204" pitchFamily="34" charset="-128"/>
              </a:rPr>
              <a:t>Set M → 1</a:t>
            </a:r>
            <a:endParaRPr lang="en-US" altLang="en-US" dirty="0">
              <a:ea typeface="MS PGothic" panose="020B0600070205080204" pitchFamily="34" charset="-128"/>
            </a:endParaRPr>
          </a:p>
          <a:p>
            <a:pPr algn="just"/>
            <a:r>
              <a:rPr lang="en-US" altLang="en-US" dirty="0">
                <a:ea typeface="MS PGothic" panose="020B0600070205080204" pitchFamily="34" charset="-128"/>
              </a:rPr>
              <a:t>Return 0</a:t>
            </a:r>
            <a:endParaRPr lang="en-US" altLang="en-US" dirty="0">
              <a:ea typeface="MS PGothic" panose="020B0600070205080204" pitchFamily="34" charset="-128"/>
            </a:endParaRPr>
          </a:p>
          <a:p>
            <a:pPr algn="just"/>
            <a:r>
              <a:rPr lang="en-US" altLang="en-US" dirty="0">
                <a:sym typeface="+mn-ea"/>
              </a:rPr>
              <a:t>P1 receives 0 → "I got the lock"</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Test and Set atomic instruction</a:t>
            </a:r>
            <a:endParaRPr lang="en-US" altLang="en-US" dirty="0">
              <a:ea typeface="MS PGothic" panose="020B0600070205080204" pitchFamily="34" charset="-128"/>
            </a:endParaRPr>
          </a:p>
        </p:txBody>
      </p:sp>
      <p:sp>
        <p:nvSpPr>
          <p:cNvPr id="2" name="Text Box 1"/>
          <p:cNvSpPr txBox="1"/>
          <p:nvPr/>
        </p:nvSpPr>
        <p:spPr>
          <a:xfrm>
            <a:off x="4572000" y="2980690"/>
            <a:ext cx="4226560" cy="3046095"/>
          </a:xfrm>
          <a:prstGeom prst="rect">
            <a:avLst/>
          </a:prstGeom>
          <a:noFill/>
        </p:spPr>
        <p:txBody>
          <a:bodyPr wrap="square" rtlCol="0">
            <a:spAutoFit/>
          </a:bodyPr>
          <a:p>
            <a:pPr marL="285750" indent="-285750" algn="just">
              <a:buFont typeface="Wingdings" panose="05000000000000000000" charset="0"/>
              <a:buChar char="§"/>
            </a:pPr>
            <a:r>
              <a:rPr lang="en-US" altLang="en-US" dirty="0">
                <a:sym typeface="+mn-ea"/>
              </a:rPr>
              <a:t>Then P2 executes</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test-and-set(M)</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Now: M =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Read M →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Set M →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Return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Therefore:</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P2 receives 1 → "I did NOT get the lock"</a:t>
            </a:r>
            <a:endParaRPr lang="en-US" altLang="en-US" dirty="0">
              <a:sym typeface="+mn-ea"/>
            </a:endParaRPr>
          </a:p>
          <a:p>
            <a:pPr marL="285750" indent="-285750" algn="just">
              <a:buFont typeface="Wingdings" panose="05000000000000000000" charset="0"/>
              <a:buChar char="§"/>
            </a:pPr>
            <a:endParaRPr lang="en-US" altLang="en-US" dirty="0">
              <a:ea typeface="MS PGothic" panose="020B0600070205080204" pitchFamily="34" charset="-128"/>
            </a:endParaRPr>
          </a:p>
          <a:p>
            <a:pPr marL="285750" indent="-285750" algn="just">
              <a:buFont typeface="Wingdings" panose="05000000000000000000" charset="0"/>
              <a:buChar char="§"/>
            </a:pPr>
            <a:endParaRPr lang="en-US" altLang="en-US" dirty="0">
              <a:highlight>
                <a:srgbClr val="FFFF00"/>
              </a:highlight>
              <a:ea typeface="MS PGothic" panose="020B0600070205080204" pitchFamily="34" charset="-128"/>
            </a:endParaRPr>
          </a:p>
          <a:p>
            <a:pPr marL="285750" indent="-285750" algn="just">
              <a:buFont typeface="Wingdings" panose="05000000000000000000" charset="0"/>
              <a:buChar char="§"/>
            </a:pPr>
            <a:endParaRPr lang="en-US" altLang="en-US" dirty="0">
              <a:ea typeface="MS PGothic" panose="020B0600070205080204" pitchFamily="34" charset="-128"/>
            </a:endParaRPr>
          </a:p>
          <a:p>
            <a:pPr marL="285750" indent="-285750">
              <a:buFont typeface="Wingdings" panose="05000000000000000000" charset="0"/>
              <a:buChar char="§"/>
            </a:pPr>
            <a:endParaRPr lang="en-US"/>
          </a:p>
        </p:txBody>
      </p:sp>
    </p:spTree>
  </p:cSld>
  <p:clrMapOvr>
    <a:masterClrMapping/>
  </p:clrMapOvr>
  <p:transition advTm="5014"/>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highlight>
                <a:srgbClr val="FFFF00"/>
              </a:highlight>
              <a:ea typeface="MS PGothic" panose="020B0600070205080204" pitchFamily="34" charset="-128"/>
            </a:endParaRPr>
          </a:p>
          <a:p>
            <a:pPr indent="-331470" algn="just"/>
            <a:r>
              <a:rPr lang="en-US" altLang="en-US" dirty="0">
                <a:highlight>
                  <a:srgbClr val="FFFF00"/>
                </a:highlight>
                <a:ea typeface="MS PGothic" panose="020B0600070205080204" pitchFamily="34" charset="-128"/>
              </a:rPr>
              <a:t>How to solve race condition by test and set atomic instruction?</a:t>
            </a:r>
            <a:endParaRPr lang="en-US" altLang="en-US" dirty="0">
              <a:highlight>
                <a:srgbClr val="FFFF00"/>
              </a:highlight>
              <a:ea typeface="MS PGothic" panose="020B0600070205080204" pitchFamily="34" charset="-128"/>
            </a:endParaRPr>
          </a:p>
          <a:p>
            <a:pPr indent="-342900" algn="just"/>
            <a:r>
              <a:rPr lang="en-US" altLang="en-US" dirty="0">
                <a:ea typeface="MS PGothic" panose="020B0600070205080204" pitchFamily="34" charset="-128"/>
              </a:rPr>
              <a:t>Test-and-Set combines:</a:t>
            </a:r>
            <a:endParaRPr lang="en-US" altLang="en-US" dirty="0">
              <a:ea typeface="MS PGothic" panose="020B0600070205080204" pitchFamily="34" charset="-128"/>
            </a:endParaRPr>
          </a:p>
          <a:p>
            <a:pPr algn="just"/>
            <a:r>
              <a:rPr lang="en-US" altLang="en-US" dirty="0">
                <a:ea typeface="MS PGothic" panose="020B0600070205080204" pitchFamily="34" charset="-128"/>
              </a:rPr>
              <a:t>Read the value + set it to 1 into one atomic operation: test-and-set(M)</a:t>
            </a:r>
            <a:endParaRPr lang="en-US" altLang="en-US" dirty="0">
              <a:ea typeface="MS PGothic" panose="020B0600070205080204" pitchFamily="34" charset="-128"/>
            </a:endParaRPr>
          </a:p>
          <a:p>
            <a:pPr algn="just"/>
            <a:r>
              <a:rPr lang="en-US" altLang="en-US" dirty="0">
                <a:ea typeface="MS PGothic" panose="020B0600070205080204" pitchFamily="34" charset="-128"/>
              </a:rPr>
              <a:t>P1 executes first</a:t>
            </a:r>
            <a:endParaRPr lang="en-US" altLang="en-US" dirty="0">
              <a:ea typeface="MS PGothic" panose="020B0600070205080204" pitchFamily="34" charset="-128"/>
            </a:endParaRPr>
          </a:p>
          <a:p>
            <a:pPr algn="just"/>
            <a:r>
              <a:rPr lang="en-US" altLang="en-US" dirty="0">
                <a:ea typeface="MS PGothic" panose="020B0600070205080204" pitchFamily="34" charset="-128"/>
              </a:rPr>
              <a:t>Initially: M = 0</a:t>
            </a:r>
            <a:endParaRPr lang="en-US" altLang="en-US" dirty="0">
              <a:ea typeface="MS PGothic" panose="020B0600070205080204" pitchFamily="34" charset="-128"/>
            </a:endParaRPr>
          </a:p>
          <a:p>
            <a:pPr algn="just"/>
            <a:r>
              <a:rPr lang="en-US" altLang="en-US" dirty="0">
                <a:ea typeface="MS PGothic" panose="020B0600070205080204" pitchFamily="34" charset="-128"/>
              </a:rPr>
              <a:t>P1: test-and-set(M)</a:t>
            </a:r>
            <a:endParaRPr lang="en-US" altLang="en-US" dirty="0">
              <a:ea typeface="MS PGothic" panose="020B0600070205080204" pitchFamily="34" charset="-128"/>
            </a:endParaRPr>
          </a:p>
          <a:p>
            <a:pPr algn="just"/>
            <a:r>
              <a:rPr lang="en-US" altLang="en-US" dirty="0">
                <a:ea typeface="MS PGothic" panose="020B0600070205080204" pitchFamily="34" charset="-128"/>
              </a:rPr>
              <a:t>The operation does:</a:t>
            </a:r>
            <a:endParaRPr lang="en-US" altLang="en-US" dirty="0">
              <a:ea typeface="MS PGothic" panose="020B0600070205080204" pitchFamily="34" charset="-128"/>
            </a:endParaRPr>
          </a:p>
          <a:p>
            <a:pPr algn="just"/>
            <a:r>
              <a:rPr lang="en-US" altLang="en-US" dirty="0">
                <a:ea typeface="MS PGothic" panose="020B0600070205080204" pitchFamily="34" charset="-128"/>
              </a:rPr>
              <a:t>Read M → 0</a:t>
            </a:r>
            <a:endParaRPr lang="en-US" altLang="en-US" dirty="0">
              <a:ea typeface="MS PGothic" panose="020B0600070205080204" pitchFamily="34" charset="-128"/>
            </a:endParaRPr>
          </a:p>
          <a:p>
            <a:pPr algn="just"/>
            <a:r>
              <a:rPr lang="en-US" altLang="en-US" dirty="0">
                <a:ea typeface="MS PGothic" panose="020B0600070205080204" pitchFamily="34" charset="-128"/>
              </a:rPr>
              <a:t>Set M → 1</a:t>
            </a:r>
            <a:endParaRPr lang="en-US" altLang="en-US" dirty="0">
              <a:ea typeface="MS PGothic" panose="020B0600070205080204" pitchFamily="34" charset="-128"/>
            </a:endParaRPr>
          </a:p>
          <a:p>
            <a:pPr algn="just"/>
            <a:r>
              <a:rPr lang="en-US" altLang="en-US" dirty="0">
                <a:ea typeface="MS PGothic" panose="020B0600070205080204" pitchFamily="34" charset="-128"/>
              </a:rPr>
              <a:t>Return 0</a:t>
            </a:r>
            <a:endParaRPr lang="en-US" altLang="en-US" dirty="0">
              <a:ea typeface="MS PGothic" panose="020B0600070205080204" pitchFamily="34" charset="-128"/>
            </a:endParaRPr>
          </a:p>
          <a:p>
            <a:pPr algn="just"/>
            <a:r>
              <a:rPr lang="en-US" altLang="en-US" dirty="0">
                <a:sym typeface="+mn-ea"/>
              </a:rPr>
              <a:t>P1 receives 0 → "I got the lock"</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Test and Set atomic instruction</a:t>
            </a:r>
            <a:endParaRPr lang="en-US" altLang="en-US" dirty="0">
              <a:ea typeface="MS PGothic" panose="020B0600070205080204" pitchFamily="34" charset="-128"/>
            </a:endParaRPr>
          </a:p>
        </p:txBody>
      </p:sp>
      <p:sp>
        <p:nvSpPr>
          <p:cNvPr id="2" name="Text Box 1"/>
          <p:cNvSpPr txBox="1"/>
          <p:nvPr/>
        </p:nvSpPr>
        <p:spPr>
          <a:xfrm>
            <a:off x="4572000" y="2980690"/>
            <a:ext cx="4226560" cy="3046095"/>
          </a:xfrm>
          <a:prstGeom prst="rect">
            <a:avLst/>
          </a:prstGeom>
          <a:noFill/>
        </p:spPr>
        <p:txBody>
          <a:bodyPr wrap="square" rtlCol="0">
            <a:spAutoFit/>
          </a:bodyPr>
          <a:p>
            <a:pPr marL="285750" indent="-285750" algn="just">
              <a:buFont typeface="Wingdings" panose="05000000000000000000" charset="0"/>
              <a:buChar char="§"/>
            </a:pPr>
            <a:r>
              <a:rPr lang="en-US" altLang="en-US" dirty="0">
                <a:sym typeface="+mn-ea"/>
              </a:rPr>
              <a:t>Then P2 executes</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test-and-set(M)</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Now: M =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Read M →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Set M →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Return 1</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Therefore:</a:t>
            </a:r>
            <a:endParaRPr lang="en-US" altLang="en-US" dirty="0">
              <a:ea typeface="MS PGothic" panose="020B0600070205080204" pitchFamily="34" charset="-128"/>
            </a:endParaRPr>
          </a:p>
          <a:p>
            <a:pPr marL="285750" indent="-285750" algn="just">
              <a:buFont typeface="Wingdings" panose="05000000000000000000" charset="0"/>
              <a:buChar char="§"/>
            </a:pPr>
            <a:r>
              <a:rPr lang="en-US" altLang="en-US" dirty="0">
                <a:sym typeface="+mn-ea"/>
              </a:rPr>
              <a:t>P2 receives 1 → "I did NOT get the lock"</a:t>
            </a:r>
            <a:endParaRPr lang="en-US" altLang="en-US" dirty="0">
              <a:sym typeface="+mn-ea"/>
            </a:endParaRPr>
          </a:p>
          <a:p>
            <a:pPr marL="285750" indent="-285750" algn="just">
              <a:buFont typeface="Wingdings" panose="05000000000000000000" charset="0"/>
              <a:buChar char="§"/>
            </a:pPr>
            <a:endParaRPr lang="en-US" altLang="en-US" dirty="0">
              <a:ea typeface="MS PGothic" panose="020B0600070205080204" pitchFamily="34" charset="-128"/>
            </a:endParaRPr>
          </a:p>
          <a:p>
            <a:pPr marL="285750" indent="-285750" algn="just">
              <a:buFont typeface="Wingdings" panose="05000000000000000000" charset="0"/>
              <a:buChar char="§"/>
            </a:pPr>
            <a:endParaRPr lang="en-US" altLang="en-US" dirty="0">
              <a:highlight>
                <a:srgbClr val="FFFF00"/>
              </a:highlight>
              <a:ea typeface="MS PGothic" panose="020B0600070205080204" pitchFamily="34" charset="-128"/>
            </a:endParaRPr>
          </a:p>
          <a:p>
            <a:pPr marL="285750" indent="-285750" algn="just">
              <a:buFont typeface="Wingdings" panose="05000000000000000000" charset="0"/>
              <a:buChar char="§"/>
            </a:pPr>
            <a:endParaRPr lang="en-US" altLang="en-US" dirty="0">
              <a:ea typeface="MS PGothic" panose="020B0600070205080204" pitchFamily="34" charset="-128"/>
            </a:endParaRPr>
          </a:p>
          <a:p>
            <a:pPr marL="285750" indent="-285750">
              <a:buFont typeface="Wingdings" panose="05000000000000000000" charset="0"/>
              <a:buChar char="§"/>
            </a:pPr>
            <a:endParaRPr lang="en-US"/>
          </a:p>
        </p:txBody>
      </p:sp>
    </p:spTree>
  </p:cSld>
  <p:clrMapOvr>
    <a:masterClrMapping/>
  </p:clrMapOvr>
  <p:transition advTm="5014"/>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Basic Idea</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Imagine I put a book on a table and say:</a:t>
            </a:r>
            <a:endParaRPr lang="en-US" altLang="en-US" dirty="0">
              <a:ea typeface="MS PGothic" panose="020B0600070205080204" pitchFamily="34" charset="-128"/>
            </a:endParaRPr>
          </a:p>
          <a:p>
            <a:pPr algn="just"/>
            <a:r>
              <a:rPr lang="en-US" altLang="en-US" dirty="0">
                <a:ea typeface="MS PGothic" panose="020B0600070205080204" pitchFamily="34" charset="-128"/>
              </a:rPr>
              <a:t>“If the table is empty, put my book there.”</a:t>
            </a:r>
            <a:endParaRPr lang="en-US" altLang="en-US" dirty="0">
              <a:ea typeface="MS PGothic" panose="020B0600070205080204" pitchFamily="34" charset="-128"/>
            </a:endParaRPr>
          </a:p>
          <a:p>
            <a:pPr algn="just"/>
            <a:r>
              <a:rPr lang="en-US" altLang="en-US" dirty="0">
                <a:ea typeface="MS PGothic" panose="020B0600070205080204" pitchFamily="34" charset="-128"/>
              </a:rPr>
              <a:t>But someone else may put a book there first.</a:t>
            </a:r>
            <a:endParaRPr lang="en-US" altLang="en-US" dirty="0">
              <a:ea typeface="MS PGothic" panose="020B0600070205080204" pitchFamily="34" charset="-128"/>
            </a:endParaRPr>
          </a:p>
          <a:p>
            <a:pPr algn="just"/>
            <a:r>
              <a:rPr lang="en-US" altLang="en-US" dirty="0">
                <a:ea typeface="MS PGothic" panose="020B0600070205080204" pitchFamily="34" charset="-128"/>
              </a:rPr>
              <a:t>So I need to do:</a:t>
            </a:r>
            <a:endParaRPr lang="en-US" altLang="en-US" dirty="0">
              <a:ea typeface="MS PGothic" panose="020B0600070205080204" pitchFamily="34" charset="-128"/>
            </a:endParaRPr>
          </a:p>
          <a:p>
            <a:pPr algn="just"/>
            <a:r>
              <a:rPr lang="en-US" altLang="en-US" dirty="0">
                <a:ea typeface="MS PGothic" panose="020B0600070205080204" pitchFamily="34" charset="-128"/>
              </a:rPr>
              <a:t>Check → If it is still empty → Put my book</a:t>
            </a:r>
            <a:endParaRPr lang="en-US" altLang="en-US" dirty="0">
              <a:ea typeface="MS PGothic" panose="020B0600070205080204" pitchFamily="34" charset="-128"/>
            </a:endParaRPr>
          </a:p>
          <a:p>
            <a:pPr algn="just"/>
            <a:r>
              <a:rPr lang="en-US" altLang="en-US" dirty="0">
                <a:ea typeface="MS PGothic" panose="020B0600070205080204" pitchFamily="34" charset="-128"/>
              </a:rPr>
              <a:t>What does compare mean?</a:t>
            </a:r>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Check whether two values are the same.</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What does swap mean?</a:t>
            </a:r>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Replace the old value with a new value.</a:t>
            </a:r>
            <a:endParaRPr lang="en-US" altLang="en-US" dirty="0">
              <a:highlight>
                <a:srgbClr val="00FF00"/>
              </a:highlight>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Compare and Swap</a:t>
            </a:r>
            <a:endParaRPr lang="en-US" altLang="en-US" dirty="0">
              <a:ea typeface="MS PGothic" panose="020B0600070205080204" pitchFamily="34" charset="-128"/>
            </a:endParaRPr>
          </a:p>
        </p:txBody>
      </p:sp>
    </p:spTree>
  </p:cSld>
  <p:clrMapOvr>
    <a:masterClrMapping/>
  </p:clrMapOvr>
  <p:transition advTm="5014"/>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compare-and-swap(M, Vo, Vn)</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ea typeface="MS PGothic" panose="020B0600070205080204" pitchFamily="34" charset="-128"/>
              </a:rPr>
              <a:t>E.g., compare-and-swap(M, 0, 101)</a:t>
            </a:r>
            <a:endParaRPr lang="en-US" altLang="en-US" dirty="0">
              <a:ea typeface="MS PGothic" panose="020B0600070205080204" pitchFamily="34" charset="-128"/>
            </a:endParaRPr>
          </a:p>
          <a:p>
            <a:pPr algn="just"/>
            <a:r>
              <a:rPr lang="en-US" altLang="en-US" dirty="0">
                <a:ea typeface="MS PGothic" panose="020B0600070205080204" pitchFamily="34" charset="-128"/>
              </a:rPr>
              <a:t>If M is currently 0, change M to 101.</a:t>
            </a:r>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Success Case</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Suppose:</a:t>
            </a:r>
            <a:endParaRPr lang="en-US" altLang="en-US" dirty="0">
              <a:ea typeface="MS PGothic" panose="020B0600070205080204" pitchFamily="34" charset="-128"/>
            </a:endParaRPr>
          </a:p>
          <a:p>
            <a:pPr algn="just"/>
            <a:r>
              <a:rPr lang="en-US" altLang="en-US" dirty="0">
                <a:ea typeface="MS PGothic" panose="020B0600070205080204" pitchFamily="34" charset="-128"/>
              </a:rPr>
              <a:t>M = 0</a:t>
            </a:r>
            <a:endParaRPr lang="en-US" altLang="en-US" dirty="0">
              <a:ea typeface="MS PGothic" panose="020B0600070205080204" pitchFamily="34" charset="-128"/>
            </a:endParaRPr>
          </a:p>
          <a:p>
            <a:pPr algn="just"/>
            <a:r>
              <a:rPr lang="en-US" altLang="en-US" dirty="0">
                <a:ea typeface="MS PGothic" panose="020B0600070205080204" pitchFamily="34" charset="-128"/>
              </a:rPr>
              <a:t>P1 wants the lock.</a:t>
            </a:r>
            <a:endParaRPr lang="en-US" altLang="en-US" dirty="0">
              <a:ea typeface="MS PGothic" panose="020B0600070205080204" pitchFamily="34" charset="-128"/>
            </a:endParaRPr>
          </a:p>
          <a:p>
            <a:pPr algn="just"/>
            <a:r>
              <a:rPr lang="en-US" altLang="en-US" dirty="0">
                <a:ea typeface="MS PGothic" panose="020B0600070205080204" pitchFamily="34" charset="-128"/>
              </a:rPr>
              <a:t>P1's ID is 101</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Compare and Swap</a:t>
            </a:r>
            <a:endParaRPr lang="en-US" altLang="en-US" dirty="0">
              <a:ea typeface="MS PGothic" panose="020B0600070205080204" pitchFamily="34" charset="-128"/>
            </a:endParaRPr>
          </a:p>
        </p:txBody>
      </p:sp>
      <p:graphicFrame>
        <p:nvGraphicFramePr>
          <p:cNvPr id="4" name="Table 3"/>
          <p:cNvGraphicFramePr/>
          <p:nvPr/>
        </p:nvGraphicFramePr>
        <p:xfrm>
          <a:off x="839470" y="2514600"/>
          <a:ext cx="7863840" cy="0"/>
        </p:xfrm>
        <a:graphic>
          <a:graphicData uri="http://schemas.openxmlformats.org/drawingml/2006/table">
            <a:tbl>
              <a:tblPr/>
              <a:tblGrid>
                <a:gridCol w="3931920"/>
                <a:gridCol w="3931920"/>
              </a:tblGrid>
              <a:tr h="0">
                <a:tc>
                  <a:txBody>
                    <a:bodyPr/>
                    <a:p>
                      <a:pPr algn="ctr"/>
                      <a:r>
                        <a:rPr sz="1100"/>
                        <a:t>Symbol</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Meaning</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M</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Memory location</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Vo</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Old/expected value</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0">
                <a:tc>
                  <a:txBody>
                    <a:bodyPr/>
                    <a:p>
                      <a:pPr algn="ctr"/>
                      <a:r>
                        <a:rPr sz="1100"/>
                        <a:t>Vn</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a:r>
                        <a:rPr sz="1100"/>
                        <a:t>New value</a:t>
                      </a:r>
                      <a:endParaRPr sz="11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bl>
          </a:graphicData>
        </a:graphic>
      </p:graphicFrame>
    </p:spTree>
  </p:cSld>
  <p:clrMapOvr>
    <a:masterClrMapping/>
  </p:clrMapOvr>
  <p:transition advTm="5014"/>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Step 1 — Compare</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Current M = 0</a:t>
            </a:r>
            <a:endParaRPr lang="en-US" altLang="en-US" dirty="0">
              <a:ea typeface="MS PGothic" panose="020B0600070205080204" pitchFamily="34" charset="-128"/>
            </a:endParaRPr>
          </a:p>
          <a:p>
            <a:pPr algn="just"/>
            <a:r>
              <a:rPr lang="en-US" altLang="en-US" dirty="0">
                <a:ea typeface="MS PGothic" panose="020B0600070205080204" pitchFamily="34" charset="-128"/>
              </a:rPr>
              <a:t>Expected Vo = 0</a:t>
            </a:r>
            <a:endParaRPr lang="en-US" altLang="en-US" dirty="0">
              <a:ea typeface="MS PGothic" panose="020B0600070205080204" pitchFamily="34" charset="-128"/>
            </a:endParaRPr>
          </a:p>
          <a:p>
            <a:pPr algn="just"/>
            <a:r>
              <a:rPr lang="en-US" altLang="en-US" dirty="0">
                <a:ea typeface="MS PGothic" panose="020B0600070205080204" pitchFamily="34" charset="-128"/>
              </a:rPr>
              <a:t>Are they equal?</a:t>
            </a:r>
            <a:endParaRPr lang="en-US" altLang="en-US" dirty="0">
              <a:ea typeface="MS PGothic" panose="020B0600070205080204" pitchFamily="34" charset="-128"/>
            </a:endParaRPr>
          </a:p>
          <a:p>
            <a:pPr algn="just"/>
            <a:r>
              <a:rPr lang="en-US" altLang="en-US" dirty="0">
                <a:ea typeface="MS PGothic" panose="020B0600070205080204" pitchFamily="34" charset="-128"/>
              </a:rPr>
              <a:t>0 = 0</a:t>
            </a:r>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Step 2 — Swap/change</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Because they match:</a:t>
            </a:r>
            <a:endParaRPr lang="en-US" altLang="en-US" dirty="0">
              <a:ea typeface="MS PGothic" panose="020B0600070205080204" pitchFamily="34" charset="-128"/>
            </a:endParaRPr>
          </a:p>
          <a:p>
            <a:pPr algn="just"/>
            <a:r>
              <a:rPr lang="en-US" altLang="en-US" dirty="0">
                <a:ea typeface="MS PGothic" panose="020B0600070205080204" pitchFamily="34" charset="-128"/>
              </a:rPr>
              <a:t>Swap 101, M = 101</a:t>
            </a:r>
            <a:endParaRPr lang="en-US" altLang="en-US" dirty="0">
              <a:ea typeface="MS PGothic" panose="020B0600070205080204" pitchFamily="34" charset="-128"/>
            </a:endParaRPr>
          </a:p>
          <a:p>
            <a:pPr algn="just"/>
            <a:r>
              <a:rPr lang="en-US" altLang="en-US" dirty="0">
                <a:ea typeface="MS PGothic" panose="020B0600070205080204" pitchFamily="34" charset="-128"/>
              </a:rPr>
              <a:t>P1 gets the lock (s</a:t>
            </a:r>
            <a:r>
              <a:rPr lang="en-US" altLang="en-US" dirty="0">
                <a:sym typeface="+mn-ea"/>
              </a:rPr>
              <a:t>uccess)</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Compare and Swap</a:t>
            </a:r>
            <a:endParaRPr lang="en-US" altLang="en-US" dirty="0">
              <a:ea typeface="MS PGothic" panose="020B0600070205080204" pitchFamily="34" charset="-128"/>
            </a:endParaRPr>
          </a:p>
        </p:txBody>
      </p:sp>
      <p:sp>
        <p:nvSpPr>
          <p:cNvPr id="2" name="Text Box 1"/>
          <p:cNvSpPr txBox="1"/>
          <p:nvPr/>
        </p:nvSpPr>
        <p:spPr>
          <a:xfrm>
            <a:off x="3851910" y="2282190"/>
            <a:ext cx="4477385" cy="583565"/>
          </a:xfrm>
          <a:prstGeom prst="rect">
            <a:avLst/>
          </a:prstGeom>
          <a:noFill/>
        </p:spPr>
        <p:txBody>
          <a:bodyPr wrap="square" rtlCol="0">
            <a:spAutoFit/>
          </a:bodyPr>
          <a:p>
            <a:r>
              <a:rPr lang="en-US" altLang="en-US"/>
              <a:t>I expect the lock to be free (M = 0). If it is still free, put my ID (101) into M.</a:t>
            </a:r>
            <a:endParaRPr lang="en-US" altLang="en-US"/>
          </a:p>
        </p:txBody>
      </p:sp>
      <p:sp>
        <p:nvSpPr>
          <p:cNvPr id="5" name="Right Brace 4"/>
          <p:cNvSpPr/>
          <p:nvPr/>
        </p:nvSpPr>
        <p:spPr>
          <a:xfrm>
            <a:off x="3360420" y="2282190"/>
            <a:ext cx="441325" cy="425450"/>
          </a:xfrm>
          <a:prstGeom prst="rightBrace">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tx1"/>
              </a:solidFill>
              <a:effectLst/>
              <a:latin typeface="Helvetica" panose="020B0604020202020204" pitchFamily="34" charset="0"/>
            </a:endParaRPr>
          </a:p>
        </p:txBody>
      </p:sp>
    </p:spTree>
  </p:cSld>
  <p:clrMapOvr>
    <a:masterClrMapping/>
  </p:clrMapOvr>
  <p:transition advTm="5014"/>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Atomic Instruction(Cont’d)</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Failure</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suppose P2 wants the same lock.</a:t>
            </a:r>
            <a:endParaRPr lang="en-US" altLang="en-US" dirty="0">
              <a:ea typeface="MS PGothic" panose="020B0600070205080204" pitchFamily="34" charset="-128"/>
            </a:endParaRPr>
          </a:p>
          <a:p>
            <a:pPr algn="just"/>
            <a:r>
              <a:rPr lang="en-US" altLang="en-US" dirty="0">
                <a:ea typeface="MS PGothic" panose="020B0600070205080204" pitchFamily="34" charset="-128"/>
              </a:rPr>
              <a:t>But M = 101</a:t>
            </a:r>
            <a:endParaRPr lang="en-US" altLang="en-US" dirty="0">
              <a:ea typeface="MS PGothic" panose="020B0600070205080204" pitchFamily="34" charset="-128"/>
            </a:endParaRPr>
          </a:p>
          <a:p>
            <a:pPr algn="just"/>
            <a:r>
              <a:rPr lang="en-US" altLang="en-US" dirty="0">
                <a:ea typeface="MS PGothic" panose="020B0600070205080204" pitchFamily="34" charset="-128"/>
              </a:rPr>
              <a:t>P2 executes: compare-and-swap(M, 0, 202)</a:t>
            </a:r>
            <a:endParaRPr lang="en-US" altLang="en-US" dirty="0">
              <a:ea typeface="MS PGothic" panose="020B0600070205080204" pitchFamily="34" charset="-128"/>
            </a:endParaRPr>
          </a:p>
          <a:p>
            <a:pPr algn="just"/>
            <a:r>
              <a:rPr lang="en-US" altLang="en-US" dirty="0">
                <a:highlight>
                  <a:srgbClr val="00FF00"/>
                </a:highlight>
                <a:ea typeface="MS PGothic" panose="020B0600070205080204" pitchFamily="34" charset="-128"/>
              </a:rPr>
              <a:t>Step 1 — Compare</a:t>
            </a:r>
            <a:endParaRPr lang="en-US" altLang="en-US" dirty="0">
              <a:highlight>
                <a:srgbClr val="00FF00"/>
              </a:highlight>
              <a:ea typeface="MS PGothic" panose="020B0600070205080204" pitchFamily="34" charset="-128"/>
            </a:endParaRPr>
          </a:p>
          <a:p>
            <a:pPr algn="just"/>
            <a:r>
              <a:rPr lang="en-US" altLang="en-US" dirty="0">
                <a:ea typeface="MS PGothic" panose="020B0600070205080204" pitchFamily="34" charset="-128"/>
              </a:rPr>
              <a:t>Current M = 101</a:t>
            </a:r>
            <a:endParaRPr lang="en-US" altLang="en-US" dirty="0">
              <a:ea typeface="MS PGothic" panose="020B0600070205080204" pitchFamily="34" charset="-128"/>
            </a:endParaRPr>
          </a:p>
          <a:p>
            <a:pPr algn="just"/>
            <a:r>
              <a:rPr lang="en-US" altLang="en-US" dirty="0">
                <a:ea typeface="MS PGothic" panose="020B0600070205080204" pitchFamily="34" charset="-128"/>
              </a:rPr>
              <a:t>Expected Vo = 0</a:t>
            </a:r>
            <a:endParaRPr lang="en-US" altLang="en-US" dirty="0">
              <a:ea typeface="MS PGothic" panose="020B0600070205080204" pitchFamily="34" charset="-128"/>
            </a:endParaRPr>
          </a:p>
          <a:p>
            <a:pPr algn="just"/>
            <a:r>
              <a:rPr lang="en-US" altLang="en-US" dirty="0">
                <a:ea typeface="MS PGothic" panose="020B0600070205080204" pitchFamily="34" charset="-128"/>
              </a:rPr>
              <a:t>Are they equal?</a:t>
            </a:r>
            <a:endParaRPr lang="en-US" altLang="en-US" dirty="0">
              <a:ea typeface="MS PGothic" panose="020B0600070205080204" pitchFamily="34" charset="-128"/>
            </a:endParaRPr>
          </a:p>
          <a:p>
            <a:pPr algn="just"/>
            <a:r>
              <a:rPr lang="en-US" altLang="en-US" dirty="0">
                <a:ea typeface="MS PGothic" panose="020B0600070205080204" pitchFamily="34" charset="-128"/>
              </a:rPr>
              <a:t>101 != 0 (Compare fails)</a:t>
            </a:r>
            <a:endParaRPr lang="en-US" altLang="en-US" dirty="0">
              <a:ea typeface="MS PGothic" panose="020B0600070205080204" pitchFamily="34" charset="-128"/>
            </a:endParaRPr>
          </a:p>
          <a:p>
            <a:pPr algn="just"/>
            <a:r>
              <a:rPr lang="en-US" altLang="en-US" dirty="0">
                <a:ea typeface="MS PGothic" panose="020B0600070205080204" pitchFamily="34" charset="-128"/>
              </a:rPr>
              <a:t>CAS → FAILURE</a:t>
            </a:r>
            <a:endParaRPr lang="en-US" altLang="en-US" dirty="0">
              <a:ea typeface="MS PGothic" panose="020B0600070205080204" pitchFamily="34" charset="-128"/>
            </a:endParaRPr>
          </a:p>
          <a:p>
            <a:pPr algn="just"/>
            <a:r>
              <a:rPr lang="en-US" altLang="en-US" dirty="0">
                <a:ea typeface="MS PGothic" panose="020B0600070205080204" pitchFamily="34" charset="-128"/>
              </a:rPr>
              <a:t>P2 knows: Someone else already has the lock.</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algn="just"/>
            <a:r>
              <a:rPr lang="en-US" altLang="en-US" dirty="0">
                <a:highlight>
                  <a:srgbClr val="FFFF00"/>
                </a:highlight>
                <a:ea typeface="MS PGothic" panose="020B0600070205080204" pitchFamily="34" charset="-128"/>
              </a:rPr>
              <a:t>Compare and Swap</a:t>
            </a:r>
            <a:endParaRPr lang="en-US" altLang="en-US" dirty="0">
              <a:ea typeface="MS PGothic" panose="020B0600070205080204" pitchFamily="34" charset="-128"/>
            </a:endParaRPr>
          </a:p>
        </p:txBody>
      </p:sp>
    </p:spTree>
  </p:cSld>
  <p:clrMapOvr>
    <a:masterClrMapping/>
  </p:clrMapOvr>
  <p:transition advTm="5014"/>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Exercise-1</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Initially: M = 0</a:t>
            </a:r>
            <a:endParaRPr lang="en-US" altLang="en-US" dirty="0">
              <a:ea typeface="MS PGothic" panose="020B0600070205080204" pitchFamily="34" charset="-128"/>
            </a:endParaRPr>
          </a:p>
          <a:p>
            <a:pPr algn="just"/>
            <a:r>
              <a:rPr lang="en-US" altLang="en-US" dirty="0">
                <a:ea typeface="MS PGothic" panose="020B0600070205080204" pitchFamily="34" charset="-128"/>
              </a:rPr>
              <a:t>P1 executes: test-and-set(M)</a:t>
            </a:r>
            <a:endParaRPr lang="en-US" altLang="en-US" dirty="0">
              <a:ea typeface="MS PGothic" panose="020B0600070205080204" pitchFamily="34" charset="-128"/>
            </a:endParaRPr>
          </a:p>
          <a:p>
            <a:pPr algn="just"/>
            <a:r>
              <a:rPr lang="en-US" altLang="en-US" dirty="0">
                <a:ea typeface="MS PGothic" panose="020B0600070205080204" pitchFamily="34" charset="-128"/>
              </a:rPr>
              <a:t>Then P2 executes: test-and-set(M)</a:t>
            </a:r>
            <a:endParaRPr lang="en-US" altLang="en-US" dirty="0">
              <a:ea typeface="MS PGothic" panose="020B0600070205080204" pitchFamily="34" charset="-128"/>
            </a:endParaRPr>
          </a:p>
          <a:p>
            <a:pPr algn="just"/>
            <a:r>
              <a:rPr lang="en-US" altLang="en-US" dirty="0">
                <a:ea typeface="MS PGothic" panose="020B0600070205080204" pitchFamily="34" charset="-128"/>
              </a:rPr>
              <a:t>What value does P1 receive?</a:t>
            </a:r>
            <a:endParaRPr lang="en-US" altLang="en-US" dirty="0">
              <a:ea typeface="MS PGothic" panose="020B0600070205080204" pitchFamily="34" charset="-128"/>
            </a:endParaRPr>
          </a:p>
          <a:p>
            <a:pPr algn="just"/>
            <a:r>
              <a:rPr lang="en-US" altLang="en-US" dirty="0">
                <a:ea typeface="MS PGothic" panose="020B0600070205080204" pitchFamily="34" charset="-128"/>
              </a:rPr>
              <a:t>What is the value of M after P1?</a:t>
            </a:r>
            <a:endParaRPr lang="en-US" altLang="en-US" dirty="0">
              <a:ea typeface="MS PGothic" panose="020B0600070205080204" pitchFamily="34" charset="-128"/>
            </a:endParaRPr>
          </a:p>
          <a:p>
            <a:pPr algn="just"/>
            <a:r>
              <a:rPr lang="en-US" altLang="en-US" dirty="0">
                <a:ea typeface="MS PGothic" panose="020B0600070205080204" pitchFamily="34" charset="-128"/>
              </a:rPr>
              <a:t>What value does P2 receive?</a:t>
            </a:r>
            <a:endParaRPr lang="en-US" altLang="en-US" dirty="0">
              <a:ea typeface="MS PGothic" panose="020B0600070205080204" pitchFamily="34" charset="-128"/>
            </a:endParaRPr>
          </a:p>
          <a:p>
            <a:pPr algn="just"/>
            <a:r>
              <a:rPr lang="en-US" altLang="en-US" dirty="0">
                <a:ea typeface="MS PGothic" panose="020B0600070205080204" pitchFamily="34" charset="-128"/>
              </a:rPr>
              <a:t>What is the value of M after P2?</a:t>
            </a:r>
            <a:endParaRPr lang="en-US" altLang="en-US" dirty="0">
              <a:ea typeface="MS PGothic" panose="020B0600070205080204" pitchFamily="34" charset="-128"/>
            </a:endParaRPr>
          </a:p>
          <a:p>
            <a:pPr algn="just"/>
            <a:r>
              <a:rPr lang="en-US" altLang="en-US" dirty="0">
                <a:ea typeface="MS PGothic" panose="020B0600070205080204" pitchFamily="34" charset="-128"/>
              </a:rPr>
              <a:t>Which process gets the lock?</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marL="0" indent="0" algn="just">
              <a:buNone/>
            </a:pPr>
            <a:endParaRPr lang="en-US" altLang="en-US" dirty="0">
              <a:ea typeface="MS PGothic" panose="020B0600070205080204" pitchFamily="34" charset="-128"/>
            </a:endParaRPr>
          </a:p>
        </p:txBody>
      </p:sp>
    </p:spTree>
  </p:cSld>
  <p:clrMapOvr>
    <a:masterClrMapping/>
  </p:clrMapOvr>
  <p:transition advTm="5014"/>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Exercise-2</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endParaRPr lang="en-US" altLang="en-US" dirty="0">
              <a:highlight>
                <a:srgbClr val="FFFF00"/>
              </a:highlight>
              <a:ea typeface="MS PGothic" panose="020B0600070205080204" pitchFamily="34" charset="-128"/>
            </a:endParaRPr>
          </a:p>
          <a:p>
            <a:pPr algn="just"/>
            <a:r>
              <a:rPr lang="en-US" altLang="en-US" dirty="0">
                <a:ea typeface="MS PGothic" panose="020B0600070205080204" pitchFamily="34" charset="-128"/>
              </a:rPr>
              <a:t>Initially: M = 0</a:t>
            </a:r>
            <a:endParaRPr lang="en-US" altLang="en-US" dirty="0">
              <a:ea typeface="MS PGothic" panose="020B0600070205080204" pitchFamily="34" charset="-128"/>
            </a:endParaRPr>
          </a:p>
          <a:p>
            <a:pPr algn="just"/>
            <a:r>
              <a:rPr lang="en-US" altLang="en-US" dirty="0">
                <a:ea typeface="MS PGothic" panose="020B0600070205080204" pitchFamily="34" charset="-128"/>
              </a:rPr>
              <a:t>P1 and P2 execute test-and-set(M) concurrently.</a:t>
            </a:r>
            <a:endParaRPr lang="en-US" altLang="en-US" dirty="0">
              <a:ea typeface="MS PGothic" panose="020B0600070205080204" pitchFamily="34" charset="-128"/>
            </a:endParaRPr>
          </a:p>
          <a:p>
            <a:pPr algn="just"/>
            <a:r>
              <a:rPr lang="en-US" altLang="en-US" dirty="0">
                <a:ea typeface="MS PGothic" panose="020B0600070205080204" pitchFamily="34" charset="-128"/>
              </a:rPr>
              <a:t>Assume P1's atomic operation happens first.</a:t>
            </a:r>
            <a:endParaRPr lang="en-US" altLang="en-US" dirty="0">
              <a:ea typeface="MS PGothic" panose="020B0600070205080204" pitchFamily="34" charset="-128"/>
            </a:endParaRPr>
          </a:p>
          <a:p>
            <a:pPr algn="just"/>
            <a:r>
              <a:rPr lang="en-US" altLang="en-US" dirty="0">
                <a:ea typeface="MS PGothic" panose="020B0600070205080204" pitchFamily="34" charset="-128"/>
              </a:rPr>
              <a:t>Why can't both P1 and P2 receive 0?</a:t>
            </a:r>
            <a:endParaRPr lang="en-US" altLang="en-US" dirty="0">
              <a:ea typeface="MS PGothic" panose="020B0600070205080204" pitchFamily="34" charset="-128"/>
            </a:endParaRPr>
          </a:p>
          <a:p>
            <a:pPr algn="just"/>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a:p>
            <a:pPr marL="0" indent="0" algn="just">
              <a:buNone/>
            </a:pP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marL="0" indent="0" algn="just">
              <a:buNone/>
            </a:pPr>
            <a:endParaRPr lang="en-US" altLang="en-US" dirty="0">
              <a:ea typeface="MS PGothic" panose="020B0600070205080204" pitchFamily="34" charset="-128"/>
            </a:endParaRPr>
          </a:p>
        </p:txBody>
      </p:sp>
    </p:spTree>
  </p:cSld>
  <p:clrMapOvr>
    <a:masterClrMapping/>
  </p:clrMapOvr>
  <p:transition advTm="5014"/>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MS PGothic" panose="020B0600070205080204" pitchFamily="34" charset="-128"/>
              </a:rPr>
              <a:t>Exercise-3</a:t>
            </a:r>
            <a:endParaRPr lang="en-US" altLang="en-US" dirty="0">
              <a:effectLst>
                <a:outerShdw blurRad="38100" dist="38100" dir="2700000" algn="tl">
                  <a:srgbClr val="C0C0C0"/>
                </a:outerShdw>
              </a:effectLst>
              <a:ea typeface="MS PGothic" panose="020B0600070205080204" pitchFamily="34" charset="-128"/>
            </a:endParaRPr>
          </a:p>
        </p:txBody>
      </p:sp>
      <p:sp>
        <p:nvSpPr>
          <p:cNvPr id="7171" name="Rectangle 3"/>
          <p:cNvSpPr>
            <a:spLocks noGrp="1" noChangeArrowheads="1"/>
          </p:cNvSpPr>
          <p:nvPr>
            <p:ph idx="1"/>
          </p:nvPr>
        </p:nvSpPr>
        <p:spPr>
          <a:xfrm>
            <a:off x="839374" y="1174689"/>
            <a:ext cx="7509376" cy="3096524"/>
          </a:xfrm>
        </p:spPr>
        <p:txBody>
          <a:bodyPr/>
          <a:lstStyle/>
          <a:p>
            <a:pPr algn="just"/>
            <a:r>
              <a:rPr lang="en-US" altLang="en-US" dirty="0">
                <a:ea typeface="MS PGothic" panose="020B0600070205080204" pitchFamily="34" charset="-128"/>
              </a:rPr>
              <a:t>Initially: M = 0</a:t>
            </a:r>
            <a:endParaRPr lang="en-US" altLang="en-US" dirty="0">
              <a:ea typeface="MS PGothic" panose="020B0600070205080204" pitchFamily="34" charset="-128"/>
            </a:endParaRPr>
          </a:p>
          <a:p>
            <a:pPr algn="just"/>
            <a:r>
              <a:rPr lang="en-US" altLang="en-US" dirty="0">
                <a:ea typeface="MS PGothic" panose="020B0600070205080204" pitchFamily="34" charset="-128"/>
              </a:rPr>
              <a:t>P1's ID: 101</a:t>
            </a:r>
            <a:endParaRPr lang="en-US" altLang="en-US" dirty="0">
              <a:ea typeface="MS PGothic" panose="020B0600070205080204" pitchFamily="34" charset="-128"/>
            </a:endParaRPr>
          </a:p>
          <a:p>
            <a:pPr algn="just"/>
            <a:r>
              <a:rPr lang="en-US" altLang="en-US" dirty="0">
                <a:ea typeface="MS PGothic" panose="020B0600070205080204" pitchFamily="34" charset="-128"/>
              </a:rPr>
              <a:t>P1 executes: CAS(M, 0, 101)</a:t>
            </a:r>
            <a:endParaRPr lang="en-US" altLang="en-US" dirty="0">
              <a:ea typeface="MS PGothic" panose="020B0600070205080204" pitchFamily="34" charset="-128"/>
            </a:endParaRPr>
          </a:p>
          <a:p>
            <a:pPr algn="just"/>
            <a:r>
              <a:rPr lang="en-US" altLang="en-US" dirty="0">
                <a:ea typeface="MS PGothic" panose="020B0600070205080204" pitchFamily="34" charset="-128"/>
              </a:rPr>
              <a:t>Does the comparison succeed?</a:t>
            </a:r>
            <a:endParaRPr lang="en-US" altLang="en-US" dirty="0">
              <a:ea typeface="MS PGothic" panose="020B0600070205080204" pitchFamily="34" charset="-128"/>
            </a:endParaRPr>
          </a:p>
          <a:p>
            <a:pPr algn="just"/>
            <a:r>
              <a:rPr lang="en-US" altLang="en-US" dirty="0">
                <a:ea typeface="MS PGothic" panose="020B0600070205080204" pitchFamily="34" charset="-128"/>
              </a:rPr>
              <a:t>What is M afterward?</a:t>
            </a:r>
            <a:endParaRPr lang="en-US" altLang="en-US" dirty="0">
              <a:ea typeface="MS PGothic" panose="020B0600070205080204" pitchFamily="34" charset="-128"/>
            </a:endParaRPr>
          </a:p>
          <a:p>
            <a:pPr algn="just"/>
            <a:r>
              <a:rPr lang="en-US" altLang="en-US" dirty="0">
                <a:ea typeface="MS PGothic" panose="020B0600070205080204" pitchFamily="34" charset="-128"/>
              </a:rPr>
              <a:t>Does P1 get the lock?</a:t>
            </a:r>
            <a:endParaRPr lang="en-US" altLang="en-US" dirty="0">
              <a:ea typeface="MS PGothic" panose="020B0600070205080204" pitchFamily="34" charset="-128"/>
            </a:endParaRPr>
          </a:p>
        </p:txBody>
      </p:sp>
      <p:sp>
        <p:nvSpPr>
          <p:cNvPr id="3" name="Rectangle 3"/>
          <p:cNvSpPr>
            <a:spLocks noGrp="1" noChangeArrowheads="1"/>
          </p:cNvSpPr>
          <p:nvPr/>
        </p:nvSpPr>
        <p:spPr>
          <a:xfrm>
            <a:off x="966374" y="1301689"/>
            <a:ext cx="7509376" cy="3096524"/>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cs typeface="MS PGothic" panose="020B0600070205080204" pitchFamily="34" charset="-128"/>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pPr marL="0" indent="0" algn="just">
              <a:buNone/>
            </a:pPr>
            <a:endParaRPr lang="en-US" altLang="en-US" dirty="0">
              <a:ea typeface="MS PGothic" panose="020B0600070205080204" pitchFamily="34" charset="-128"/>
            </a:endParaRPr>
          </a:p>
        </p:txBody>
      </p:sp>
    </p:spTree>
  </p:cSld>
  <p:clrMapOvr>
    <a:masterClrMapping/>
  </p:clrMapOvr>
  <p:transition advTm="5014"/>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0</TotalTime>
  <Words>9937</Words>
  <Application>WPS Presentation</Application>
  <PresentationFormat>On-screen Show (4:3)</PresentationFormat>
  <Paragraphs>714</Paragraphs>
  <Slides>33</Slides>
  <Notes>54</Notes>
  <HiddenSlides>4</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33</vt:i4>
      </vt:variant>
    </vt:vector>
  </HeadingPairs>
  <TitlesOfParts>
    <vt:vector size="47" baseType="lpstr">
      <vt:lpstr>Arial</vt:lpstr>
      <vt:lpstr>SimSun</vt:lpstr>
      <vt:lpstr>Wingdings</vt:lpstr>
      <vt:lpstr>Helvetica</vt:lpstr>
      <vt:lpstr>MS PGothic</vt:lpstr>
      <vt:lpstr>Times New Roman</vt:lpstr>
      <vt:lpstr>Monotype Sorts</vt:lpstr>
      <vt:lpstr>Wingdings</vt:lpstr>
      <vt:lpstr>Webdings</vt:lpstr>
      <vt:lpstr>NimbusRomDOT</vt:lpstr>
      <vt:lpstr>Segoe Print</vt:lpstr>
      <vt:lpstr>Microsoft YaHei</vt:lpstr>
      <vt:lpstr>Arial Unicode MS</vt:lpstr>
      <vt:lpstr>db</vt:lpstr>
      <vt:lpstr>Chapter 20: Database System Architectures  Part-III 18.8.26 </vt:lpstr>
      <vt:lpstr>Server System Architecture</vt:lpstr>
      <vt:lpstr>Two Types of Server Systems</vt:lpstr>
      <vt:lpstr>Two Types of Server Systems(Cont’d)</vt:lpstr>
      <vt:lpstr>Two Types of Server Systems(Cont’d)</vt:lpstr>
      <vt:lpstr>Transaction-Server Architecture</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Transaction-Server Architecture(Cont’d)</vt:lpstr>
      <vt:lpstr>Why Mutual Exclusion Is Needed in Multiple DBMS Processes?</vt:lpstr>
      <vt:lpstr>Mutex Vs Latch</vt:lpstr>
      <vt:lpstr>Atomic Instruction</vt:lpstr>
      <vt:lpstr>Atomic Instruction(Cont’d)</vt:lpstr>
      <vt:lpstr>Atomic Instruction(Cont’d)</vt:lpstr>
      <vt:lpstr>Atomic Instruction(Cont’d)</vt:lpstr>
      <vt:lpstr>Atomic Instruction(Cont’d)</vt:lpstr>
      <vt:lpstr>Atomic Instruction(Cont’d)</vt:lpstr>
      <vt:lpstr>Atomic Instruction(Cont’d)</vt:lpstr>
      <vt:lpstr>Atomic Instruction(Cont’d)</vt:lpstr>
      <vt:lpstr>Atomic Instruction(Cont’d)</vt:lpstr>
      <vt:lpstr>Atomic Instruction(Cont’d)</vt:lpstr>
      <vt:lpstr>Atomic Instruction(Cont’d)</vt:lpstr>
      <vt:lpstr>Exercise-1</vt:lpstr>
      <vt:lpstr>Exercise-2</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yimon thet</cp:lastModifiedBy>
  <cp:revision>669</cp:revision>
  <cp:lastPrinted>1999-06-28T19:27:00Z</cp:lastPrinted>
  <dcterms:created xsi:type="dcterms:W3CDTF">2000-02-23T18:58:00Z</dcterms:created>
  <dcterms:modified xsi:type="dcterms:W3CDTF">2026-09-02T23:44:55Z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3CFF5559DAB14734A369D673F5F2A058_12</vt:lpwstr>
  </property>
  <property fmtid="{D5CDD505-2E9C-101B-9397-08002B2CF9AE}" pid="3" name="KSOProductBuildVer">
    <vt:lpwstr>1033-12.1.0.28032</vt:lpwstr>
  </property>
</Properties>
</file>